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Présenter Cuvée comme un nom de travail et une proposition indépendante. Le domaine et les données des écrans sont fictifs. Il s’agit d’une maquette, pas d’un logiciel de production. Inviter le client à parler de sa manière de travailler.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six espaces existent dans la maquette HTML. Montrer le fil conducteur plutôt qu’une simple liste de modules. La facture présentée est indicative et ne calcule pas la TVA.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le tableau de bord. Les montants correspondent au jeu de données fictif et ne sont pas du chiffre d’affaires comptable certifié. Les chiffres évoluent avec les manipulations de la maquette. Aucun gain de temps n’a encore été mesuré.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conseillée : créer une commande de six bouteilles, commencer la préparation puis confirmer la livraison. Montrer ensuite la quantité mise à jour dans Vins &amp; stocks. Les coordonnées sont fictives et aucun message ne sera envoyé.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maquette illustre la conservation des volumes : 12 bouteilles de 75 cl correspondent à 9 litres. Les exigences de traçabilité, les états et l’éventuel agrément de la future solution sont à étudier. ICC Office annonce déjà un contrôle de cave et des sorties de bouteilles alimentées par livraison ou facture : ne pas présenter ces fonctions comme nouvelles ou absentes de l’existant. Source : https://www.iccoffice.ch/controle-de-cave/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L’aperçu n’est pas une facture valable. La maquette n’intègre pas la TVA, les données bancaires, un QR de paiement ou la comptabilité. La conformité de la facturation et les échanges bancaires feront partie des exigences de réalisation.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 pourcentage d’amélioration n’est revendiqué. Comparer les mêmes tâches dans l’outil actuel et dans un prototype, avec les mêmes données. Le site actuel annonce déjà modularité, documents personnalisables, accès distant via Omniware, sauvegardes et accompagnement. Ces services ne sont pas présentés comme absents. Sources : https://www.iccoffice.ch/ et https://www.iccoffice.ch/autres-prestations/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version vignerons ICC Office annonce notamment comptabilité, TVA, salaires et ISO 20022 : leur remplacement ou maintien doit être décidé, pas omis. La licence du logiciel actuel ne donne pas accès à son code source. La proposition porte sur une application indépendante. Les droits sur les exports et la reprise sont à confirmer. Sources : https://www.iccoffice.ch/version-vignerons/ ; https://www.iccoffice.ch/wp-content/uploads/2025/11/conditions_generales.pdf (document daté de juin 2021).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annoncer de prix ou de délai ferme avant l’audit du programme, des données et des besoins. Prévoir une procédure de retour à l’existant, des critères de migration et la formation. Le logiciel actuel peut devoir rester en service pendant la transition.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Terminer en recueillant trois priorités du client. Ouvrir la maquette pour illustrer le besoin exprimé. La présentation n’est ni une offre ferme ni une affiliation avec l’éditeur ICC Office. Le nom Cuvée et le domaine de démonstration sont fictifs. Consultation des sources publiques : 16 octobre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index.html" TargetMode="External"/><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3E32"/>
        </a:solidFill>
        <a:effectLst/>
      </p:bgPr>
    </p:bg>
    <p:spTree>
      <p:nvGrpSpPr>
        <p:cNvPr id="1" name=""/>
        <p:cNvGrpSpPr/>
        <p:nvPr/>
      </p:nvGrpSpPr>
      <p:grpSpPr/>
      <p:sp>
        <p:nvSpPr>
          <p:cNvPr id="2" name="TextBox 1"/>
          <p:cNvSpPr txBox="1"/>
          <p:nvPr/>
        </p:nvSpPr>
        <p:spPr>
          <a:xfrm>
            <a:off x="640080" y="457200"/>
            <a:ext cx="4572000" cy="502920"/>
          </a:xfrm>
          <a:prstGeom prst="rect">
            <a:avLst/>
          </a:prstGeom>
          <a:noFill/>
        </p:spPr>
        <p:txBody>
          <a:bodyPr wrap="square" lIns="0" rIns="0" tIns="0" bIns="0">
            <a:spAutoFit/>
          </a:bodyPr>
          <a:lstStyle/>
          <a:p>
            <a:pPr>
              <a:lnSpc>
                <a:spcPct val="112000"/>
              </a:lnSpc>
              <a:spcAft>
                <a:spcPts val="400"/>
              </a:spcAft>
              <a:defRPr sz="3400" b="0">
                <a:solidFill>
                  <a:srgbClr val="E7ECD9"/>
                </a:solidFill>
                <a:latin typeface="Georgia"/>
              </a:defRPr>
            </a:pPr>
            <a:r>
              <a:t>cuvée.</a:t>
            </a:r>
          </a:p>
        </p:txBody>
      </p:sp>
      <p:sp>
        <p:nvSpPr>
          <p:cNvPr id="3" name="TextBox 2"/>
          <p:cNvSpPr txBox="1"/>
          <p:nvPr/>
        </p:nvSpPr>
        <p:spPr>
          <a:xfrm>
            <a:off x="640080" y="1399032"/>
            <a:ext cx="5486400" cy="219456"/>
          </a:xfrm>
          <a:prstGeom prst="rect">
            <a:avLst/>
          </a:prstGeom>
          <a:noFill/>
        </p:spPr>
        <p:txBody>
          <a:bodyPr wrap="square" lIns="0" rIns="0" tIns="0" bIns="0">
            <a:spAutoFit/>
          </a:bodyPr>
          <a:lstStyle/>
          <a:p>
            <a:pPr>
              <a:lnSpc>
                <a:spcPct val="128000"/>
              </a:lnSpc>
              <a:spcAft>
                <a:spcPts val="400"/>
              </a:spcAft>
              <a:defRPr sz="900" b="1">
                <a:solidFill>
                  <a:srgbClr val="B99967"/>
                </a:solidFill>
                <a:latin typeface="Arial"/>
              </a:defRPr>
            </a:pPr>
            <a:r>
              <a:t>UNE NOUVELLE VISION DE LA GESTION VITICOLE</a:t>
            </a:r>
          </a:p>
        </p:txBody>
      </p:sp>
      <p:sp>
        <p:nvSpPr>
          <p:cNvPr id="4" name="TextBox 3"/>
          <p:cNvSpPr txBox="1"/>
          <p:nvPr/>
        </p:nvSpPr>
        <p:spPr>
          <a:xfrm>
            <a:off x="640080" y="1874519"/>
            <a:ext cx="5852160" cy="2148840"/>
          </a:xfrm>
          <a:prstGeom prst="rect">
            <a:avLst/>
          </a:prstGeom>
          <a:noFill/>
        </p:spPr>
        <p:txBody>
          <a:bodyPr wrap="square" lIns="0" rIns="0" tIns="0" bIns="0">
            <a:spAutoFit/>
          </a:bodyPr>
          <a:lstStyle/>
          <a:p>
            <a:pPr>
              <a:lnSpc>
                <a:spcPct val="112000"/>
              </a:lnSpc>
              <a:spcAft>
                <a:spcPts val="400"/>
              </a:spcAft>
              <a:defRPr sz="4300" b="0">
                <a:solidFill>
                  <a:srgbClr val="F6F5EF"/>
                </a:solidFill>
                <a:latin typeface="Georgia"/>
              </a:defRPr>
            </a:pPr>
            <a:r>
              <a:t>Votre domaine.</a:t>
            </a:r>
          </a:p>
          <a:p>
            <a:pPr>
              <a:lnSpc>
                <a:spcPct val="112000"/>
              </a:lnSpc>
              <a:spcAft>
                <a:spcPts val="400"/>
              </a:spcAft>
              <a:defRPr sz="4300" b="0">
                <a:solidFill>
                  <a:srgbClr val="F6F5EF"/>
                </a:solidFill>
                <a:latin typeface="Georgia"/>
              </a:defRPr>
            </a:pPr>
            <a:r>
              <a:t>Votre savoir-faire.</a:t>
            </a:r>
          </a:p>
          <a:p>
            <a:pPr>
              <a:lnSpc>
                <a:spcPct val="112000"/>
              </a:lnSpc>
              <a:spcAft>
                <a:spcPts val="400"/>
              </a:spcAft>
              <a:defRPr sz="4300" b="0">
                <a:solidFill>
                  <a:srgbClr val="F6F5EF"/>
                </a:solidFill>
                <a:latin typeface="Georgia"/>
              </a:defRPr>
            </a:pPr>
            <a:r>
              <a:t>Un nouvel élan.</a:t>
            </a:r>
          </a:p>
        </p:txBody>
      </p:sp>
      <p:sp>
        <p:nvSpPr>
          <p:cNvPr id="5" name="TextBox 4"/>
          <p:cNvSpPr txBox="1"/>
          <p:nvPr/>
        </p:nvSpPr>
        <p:spPr>
          <a:xfrm>
            <a:off x="640080" y="4251960"/>
            <a:ext cx="5120640" cy="960120"/>
          </a:xfrm>
          <a:prstGeom prst="rect">
            <a:avLst/>
          </a:prstGeom>
          <a:noFill/>
        </p:spPr>
        <p:txBody>
          <a:bodyPr wrap="square" lIns="0" rIns="0" tIns="0" bIns="0">
            <a:spAutoFit/>
          </a:bodyPr>
          <a:lstStyle/>
          <a:p>
            <a:pPr>
              <a:lnSpc>
                <a:spcPct val="128000"/>
              </a:lnSpc>
              <a:spcAft>
                <a:spcPts val="400"/>
              </a:spcAft>
              <a:defRPr sz="1600" b="0">
                <a:solidFill>
                  <a:srgbClr val="B6C8AF"/>
                </a:solidFill>
                <a:latin typeface="Arial"/>
              </a:defRPr>
            </a:pPr>
            <a:r>
              <a:t>Cuvée, une proposition de logiciel qui suit le rythme de votre domaine — de la relation client au suivi de cave.</a:t>
            </a:r>
          </a:p>
        </p:txBody>
      </p:sp>
      <p:sp>
        <p:nvSpPr>
          <p:cNvPr id="6" name="TextBox 5"/>
          <p:cNvSpPr txBox="1"/>
          <p:nvPr/>
        </p:nvSpPr>
        <p:spPr>
          <a:xfrm>
            <a:off x="640080" y="5596128"/>
            <a:ext cx="5486400" cy="219456"/>
          </a:xfrm>
          <a:prstGeom prst="rect">
            <a:avLst/>
          </a:prstGeom>
          <a:noFill/>
        </p:spPr>
        <p:txBody>
          <a:bodyPr wrap="square" lIns="0" rIns="0" tIns="0" bIns="0">
            <a:spAutoFit/>
          </a:bodyPr>
          <a:lstStyle/>
          <a:p>
            <a:pPr>
              <a:lnSpc>
                <a:spcPct val="128000"/>
              </a:lnSpc>
              <a:spcAft>
                <a:spcPts val="400"/>
              </a:spcAft>
              <a:defRPr sz="800" b="0">
                <a:solidFill>
                  <a:srgbClr val="B6C8AF"/>
                </a:solidFill>
                <a:latin typeface="Arial"/>
              </a:defRPr>
            </a:pPr>
            <a:r>
              <a:t>PROPOSITION CLIENT · 16 OCTOBRE 2026</a:t>
            </a:r>
          </a:p>
        </p:txBody>
      </p:sp>
      <p:sp>
        <p:nvSpPr>
          <p:cNvPr id="7" name="Rounded Rectangle 6"/>
          <p:cNvSpPr/>
          <p:nvPr/>
        </p:nvSpPr>
        <p:spPr>
          <a:xfrm>
            <a:off x="6597396" y="1202436"/>
            <a:ext cx="4956048" cy="4178808"/>
          </a:xfrm>
          <a:prstGeom prst="roundRect">
            <a:avLst>
              <a:gd name="adj" fmla="val 6000"/>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29400" y="1234440"/>
            <a:ext cx="4892040" cy="411480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9400" y="1234440"/>
            <a:ext cx="4892040" cy="182880"/>
          </a:xfrm>
          <a:prstGeom prst="rect">
            <a:avLst/>
          </a:prstGeom>
          <a:solidFill>
            <a:srgbClr val="E7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7416" y="1266444"/>
            <a:ext cx="4636007" cy="109728"/>
          </a:xfrm>
          <a:prstGeom prst="rect">
            <a:avLst/>
          </a:prstGeom>
          <a:noFill/>
        </p:spPr>
        <p:txBody>
          <a:bodyPr wrap="square" lIns="0" rIns="0" tIns="0" bIns="0">
            <a:spAutoFit/>
          </a:bodyPr>
          <a:lstStyle/>
          <a:p>
            <a:pPr>
              <a:lnSpc>
                <a:spcPct val="128000"/>
              </a:lnSpc>
              <a:spcAft>
                <a:spcPts val="400"/>
              </a:spcAft>
              <a:defRPr sz="650" b="0">
                <a:solidFill>
                  <a:srgbClr val="75816F"/>
                </a:solidFill>
                <a:latin typeface="Arial"/>
              </a:defRPr>
            </a:pPr>
            <a:r>
              <a:t>Cuvée · aperçu de la maquette</a:t>
            </a:r>
          </a:p>
        </p:txBody>
      </p:sp>
      <p:pic>
        <p:nvPicPr>
          <p:cNvPr id="11" name="Picture 10" descr="dashboard.png"/>
          <p:cNvPicPr>
            <a:picLocks noChangeAspect="1"/>
          </p:cNvPicPr>
          <p:nvPr/>
        </p:nvPicPr>
        <p:blipFill>
          <a:blip r:embed="rId2"/>
          <a:srcRect b="31043"/>
          <a:stretch>
            <a:fillRect/>
          </a:stretch>
        </p:blipFill>
        <p:spPr>
          <a:xfrm>
            <a:off x="6629400" y="1417320"/>
            <a:ext cx="4892040" cy="3931920"/>
          </a:xfrm>
          <a:prstGeom prst="rect">
            <a:avLst/>
          </a:prstGeom>
        </p:spPr>
      </p:pic>
      <p:sp>
        <p:nvSpPr>
          <p:cNvPr id="12" name="TextBox 11"/>
          <p:cNvSpPr txBox="1"/>
          <p:nvPr/>
        </p:nvSpPr>
        <p:spPr>
          <a:xfrm>
            <a:off x="6629400" y="5559552"/>
            <a:ext cx="4846320" cy="411480"/>
          </a:xfrm>
          <a:prstGeom prst="rect">
            <a:avLst/>
          </a:prstGeom>
          <a:noFill/>
        </p:spPr>
        <p:txBody>
          <a:bodyPr wrap="square" lIns="0" rIns="0" tIns="0" bIns="0">
            <a:spAutoFit/>
          </a:bodyPr>
          <a:lstStyle/>
          <a:p>
            <a:pPr>
              <a:lnSpc>
                <a:spcPct val="112000"/>
              </a:lnSpc>
              <a:spcAft>
                <a:spcPts val="400"/>
              </a:spcAft>
              <a:defRPr sz="1600" b="0">
                <a:solidFill>
                  <a:srgbClr val="E7ECD9"/>
                </a:solidFill>
                <a:latin typeface="Georgia"/>
              </a:defRPr>
            </a:pPr>
            <a:r>
              <a:t>Du premier contact à la dernière bouteille.</a:t>
            </a:r>
          </a:p>
        </p:txBody>
      </p:sp>
      <p:sp>
        <p:nvSpPr>
          <p:cNvPr id="13" name="Rectangle 12"/>
          <p:cNvSpPr/>
          <p:nvPr/>
        </p:nvSpPr>
        <p:spPr>
          <a:xfrm>
            <a:off x="640080" y="6391656"/>
            <a:ext cx="10908792" cy="7315"/>
          </a:xfrm>
          <a:prstGeom prst="rect">
            <a:avLst/>
          </a:prstGeom>
          <a:solidFill>
            <a:srgbClr val="7581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492240"/>
            <a:ext cx="9144000" cy="164592"/>
          </a:xfrm>
          <a:prstGeom prst="rect">
            <a:avLst/>
          </a:prstGeom>
          <a:noFill/>
        </p:spPr>
        <p:txBody>
          <a:bodyPr wrap="square" lIns="0" rIns="0" tIns="0" bIns="0">
            <a:spAutoFit/>
          </a:bodyPr>
          <a:lstStyle/>
          <a:p>
            <a:pPr>
              <a:lnSpc>
                <a:spcPct val="128000"/>
              </a:lnSpc>
              <a:spcAft>
                <a:spcPts val="400"/>
              </a:spcAft>
              <a:defRPr sz="700" b="0">
                <a:solidFill>
                  <a:srgbClr val="B6C8AF"/>
                </a:solidFill>
                <a:latin typeface="Arial"/>
              </a:defRPr>
            </a:pPr>
            <a:r>
              <a:t>Cuvée · présentation de projet</a:t>
            </a:r>
          </a:p>
        </p:txBody>
      </p:sp>
      <p:sp>
        <p:nvSpPr>
          <p:cNvPr id="15" name="TextBox 14"/>
          <p:cNvSpPr txBox="1"/>
          <p:nvPr/>
        </p:nvSpPr>
        <p:spPr>
          <a:xfrm>
            <a:off x="10881360" y="6492240"/>
            <a:ext cx="685800" cy="164592"/>
          </a:xfrm>
          <a:prstGeom prst="rect">
            <a:avLst/>
          </a:prstGeom>
          <a:noFill/>
        </p:spPr>
        <p:txBody>
          <a:bodyPr wrap="square" lIns="0" rIns="0" tIns="0" bIns="0">
            <a:spAutoFit/>
          </a:bodyPr>
          <a:lstStyle/>
          <a:p>
            <a:pPr>
              <a:lnSpc>
                <a:spcPct val="128000"/>
              </a:lnSpc>
              <a:spcAft>
                <a:spcPts val="400"/>
              </a:spcAft>
              <a:defRPr sz="700" b="0">
                <a:solidFill>
                  <a:srgbClr val="B6C8AF"/>
                </a:solidFill>
                <a:latin typeface="Arial"/>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40080" y="502920"/>
            <a:ext cx="10972800" cy="201168"/>
          </a:xfrm>
          <a:prstGeom prst="rect">
            <a:avLst/>
          </a:prstGeom>
          <a:noFill/>
        </p:spPr>
        <p:txBody>
          <a:bodyPr wrap="square" lIns="0" rIns="0" tIns="0" bIns="0">
            <a:spAutoFit/>
          </a:bodyPr>
          <a:lstStyle/>
          <a:p>
            <a:pPr>
              <a:lnSpc>
                <a:spcPct val="128000"/>
              </a:lnSpc>
              <a:spcAft>
                <a:spcPts val="400"/>
              </a:spcAft>
              <a:defRPr sz="1000" b="1">
                <a:solidFill>
                  <a:srgbClr val="B99967"/>
                </a:solidFill>
                <a:latin typeface="Arial"/>
              </a:defRPr>
            </a:pPr>
            <a:r>
              <a:t>UNE EXPÉRIENCE COHÉRENTE</a:t>
            </a:r>
          </a:p>
        </p:txBody>
      </p:sp>
      <p:sp>
        <p:nvSpPr>
          <p:cNvPr id="3" name="TextBox 2"/>
          <p:cNvSpPr txBox="1"/>
          <p:nvPr/>
        </p:nvSpPr>
        <p:spPr>
          <a:xfrm>
            <a:off x="640080" y="914400"/>
            <a:ext cx="10881360" cy="1280160"/>
          </a:xfrm>
          <a:prstGeom prst="rect">
            <a:avLst/>
          </a:prstGeom>
          <a:noFill/>
        </p:spPr>
        <p:txBody>
          <a:bodyPr wrap="square" lIns="0" rIns="0" tIns="0" bIns="0">
            <a:spAutoFit/>
          </a:bodyPr>
          <a:lstStyle/>
          <a:p>
            <a:pPr>
              <a:lnSpc>
                <a:spcPct val="112000"/>
              </a:lnSpc>
              <a:spcAft>
                <a:spcPts val="400"/>
              </a:spcAft>
              <a:defRPr sz="3200" b="0">
                <a:solidFill>
                  <a:srgbClr val="203E32"/>
                </a:solidFill>
                <a:latin typeface="Georgia"/>
              </a:defRPr>
            </a:pPr>
            <a:r>
              <a:t>Six espaces.</a:t>
            </a:r>
          </a:p>
          <a:p>
            <a:pPr>
              <a:lnSpc>
                <a:spcPct val="112000"/>
              </a:lnSpc>
              <a:spcAft>
                <a:spcPts val="400"/>
              </a:spcAft>
              <a:defRPr sz="3200" b="0">
                <a:solidFill>
                  <a:srgbClr val="203E32"/>
                </a:solidFill>
                <a:latin typeface="Georgia"/>
              </a:defRPr>
            </a:pPr>
            <a:r>
              <a:t>Un même fil conducteur.</a:t>
            </a:r>
          </a:p>
        </p:txBody>
      </p:sp>
      <p:sp>
        <p:nvSpPr>
          <p:cNvPr id="4" name="TextBox 3"/>
          <p:cNvSpPr txBox="1"/>
          <p:nvPr/>
        </p:nvSpPr>
        <p:spPr>
          <a:xfrm>
            <a:off x="640080" y="2258568"/>
            <a:ext cx="10881360" cy="548640"/>
          </a:xfrm>
          <a:prstGeom prst="rect">
            <a:avLst/>
          </a:prstGeom>
          <a:noFill/>
        </p:spPr>
        <p:txBody>
          <a:bodyPr wrap="square" lIns="0" rIns="0" tIns="0" bIns="0">
            <a:spAutoFit/>
          </a:bodyPr>
          <a:lstStyle/>
          <a:p>
            <a:pPr>
              <a:lnSpc>
                <a:spcPct val="128000"/>
              </a:lnSpc>
              <a:spcAft>
                <a:spcPts val="400"/>
              </a:spcAft>
              <a:defRPr sz="1300" b="0">
                <a:solidFill>
                  <a:srgbClr val="75816F"/>
                </a:solidFill>
                <a:latin typeface="Arial"/>
              </a:defRPr>
            </a:pPr>
            <a:r>
              <a:t>Retrouver les informations utiles et avancer naturellement d’une tâche à l’autre.</a:t>
            </a:r>
          </a:p>
        </p:txBody>
      </p:sp>
      <p:sp>
        <p:nvSpPr>
          <p:cNvPr id="5" name="Rounded Rectangle 4"/>
          <p:cNvSpPr/>
          <p:nvPr/>
        </p:nvSpPr>
        <p:spPr>
          <a:xfrm>
            <a:off x="640080" y="3044952"/>
            <a:ext cx="3520440" cy="114300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3172968"/>
            <a:ext cx="457200" cy="182880"/>
          </a:xfrm>
          <a:prstGeom prst="rect">
            <a:avLst/>
          </a:prstGeom>
          <a:noFill/>
        </p:spPr>
        <p:txBody>
          <a:bodyPr wrap="square" lIns="0" rIns="0" tIns="0" bIns="0">
            <a:spAutoFit/>
          </a:bodyPr>
          <a:lstStyle/>
          <a:p>
            <a:pPr>
              <a:lnSpc>
                <a:spcPct val="128000"/>
              </a:lnSpc>
              <a:spcAft>
                <a:spcPts val="400"/>
              </a:spcAft>
              <a:defRPr sz="1000" b="0">
                <a:solidFill>
                  <a:srgbClr val="B99967"/>
                </a:solidFill>
                <a:latin typeface="Arial"/>
              </a:defRPr>
            </a:pPr>
            <a:r>
              <a:t>01</a:t>
            </a:r>
          </a:p>
        </p:txBody>
      </p:sp>
      <p:sp>
        <p:nvSpPr>
          <p:cNvPr id="7" name="TextBox 6"/>
          <p:cNvSpPr txBox="1"/>
          <p:nvPr/>
        </p:nvSpPr>
        <p:spPr>
          <a:xfrm>
            <a:off x="1280160" y="3172968"/>
            <a:ext cx="2651760" cy="274320"/>
          </a:xfrm>
          <a:prstGeom prst="rect">
            <a:avLst/>
          </a:prstGeom>
          <a:noFill/>
        </p:spPr>
        <p:txBody>
          <a:bodyPr wrap="square" lIns="0" rIns="0" tIns="0" bIns="0">
            <a:spAutoFit/>
          </a:bodyPr>
          <a:lstStyle/>
          <a:p>
            <a:pPr>
              <a:lnSpc>
                <a:spcPct val="112000"/>
              </a:lnSpc>
              <a:spcAft>
                <a:spcPts val="400"/>
              </a:spcAft>
              <a:defRPr sz="1800" b="0">
                <a:solidFill>
                  <a:srgbClr val="203E32"/>
                </a:solidFill>
                <a:latin typeface="Georgia"/>
              </a:defRPr>
            </a:pPr>
            <a:r>
              <a:t>Vue d’ensemble</a:t>
            </a:r>
          </a:p>
        </p:txBody>
      </p:sp>
      <p:sp>
        <p:nvSpPr>
          <p:cNvPr id="8" name="TextBox 7"/>
          <p:cNvSpPr txBox="1"/>
          <p:nvPr/>
        </p:nvSpPr>
        <p:spPr>
          <a:xfrm>
            <a:off x="822959" y="3593592"/>
            <a:ext cx="3154680" cy="530352"/>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Les commandes, les disponibilités et les points d’attention.</a:t>
            </a:r>
          </a:p>
        </p:txBody>
      </p:sp>
      <p:sp>
        <p:nvSpPr>
          <p:cNvPr id="9" name="Rounded Rectangle 8"/>
          <p:cNvSpPr/>
          <p:nvPr/>
        </p:nvSpPr>
        <p:spPr>
          <a:xfrm>
            <a:off x="4334256" y="3044952"/>
            <a:ext cx="3520440" cy="114300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7136" y="3172968"/>
            <a:ext cx="457200" cy="182880"/>
          </a:xfrm>
          <a:prstGeom prst="rect">
            <a:avLst/>
          </a:prstGeom>
          <a:noFill/>
        </p:spPr>
        <p:txBody>
          <a:bodyPr wrap="square" lIns="0" rIns="0" tIns="0" bIns="0">
            <a:spAutoFit/>
          </a:bodyPr>
          <a:lstStyle/>
          <a:p>
            <a:pPr>
              <a:lnSpc>
                <a:spcPct val="128000"/>
              </a:lnSpc>
              <a:spcAft>
                <a:spcPts val="400"/>
              </a:spcAft>
              <a:defRPr sz="1000" b="0">
                <a:solidFill>
                  <a:srgbClr val="B99967"/>
                </a:solidFill>
                <a:latin typeface="Arial"/>
              </a:defRPr>
            </a:pPr>
            <a:r>
              <a:t>02</a:t>
            </a:r>
          </a:p>
        </p:txBody>
      </p:sp>
      <p:sp>
        <p:nvSpPr>
          <p:cNvPr id="11" name="TextBox 10"/>
          <p:cNvSpPr txBox="1"/>
          <p:nvPr/>
        </p:nvSpPr>
        <p:spPr>
          <a:xfrm>
            <a:off x="4974336" y="3172968"/>
            <a:ext cx="2651760" cy="274320"/>
          </a:xfrm>
          <a:prstGeom prst="rect">
            <a:avLst/>
          </a:prstGeom>
          <a:noFill/>
        </p:spPr>
        <p:txBody>
          <a:bodyPr wrap="square" lIns="0" rIns="0" tIns="0" bIns="0">
            <a:spAutoFit/>
          </a:bodyPr>
          <a:lstStyle/>
          <a:p>
            <a:pPr>
              <a:lnSpc>
                <a:spcPct val="112000"/>
              </a:lnSpc>
              <a:spcAft>
                <a:spcPts val="400"/>
              </a:spcAft>
              <a:defRPr sz="1800" b="0">
                <a:solidFill>
                  <a:srgbClr val="203E32"/>
                </a:solidFill>
                <a:latin typeface="Georgia"/>
              </a:defRPr>
            </a:pPr>
            <a:r>
              <a:t>Clients</a:t>
            </a:r>
          </a:p>
        </p:txBody>
      </p:sp>
      <p:sp>
        <p:nvSpPr>
          <p:cNvPr id="12" name="TextBox 11"/>
          <p:cNvSpPr txBox="1"/>
          <p:nvPr/>
        </p:nvSpPr>
        <p:spPr>
          <a:xfrm>
            <a:off x="4517136" y="3593592"/>
            <a:ext cx="3154680" cy="530352"/>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Les coordonnées et l’historique d’une relation.</a:t>
            </a:r>
          </a:p>
        </p:txBody>
      </p:sp>
      <p:sp>
        <p:nvSpPr>
          <p:cNvPr id="13" name="Rounded Rectangle 12"/>
          <p:cNvSpPr/>
          <p:nvPr/>
        </p:nvSpPr>
        <p:spPr>
          <a:xfrm>
            <a:off x="8028431" y="3044952"/>
            <a:ext cx="3520440" cy="114300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1" y="3172968"/>
            <a:ext cx="457200" cy="182880"/>
          </a:xfrm>
          <a:prstGeom prst="rect">
            <a:avLst/>
          </a:prstGeom>
          <a:noFill/>
        </p:spPr>
        <p:txBody>
          <a:bodyPr wrap="square" lIns="0" rIns="0" tIns="0" bIns="0">
            <a:spAutoFit/>
          </a:bodyPr>
          <a:lstStyle/>
          <a:p>
            <a:pPr>
              <a:lnSpc>
                <a:spcPct val="128000"/>
              </a:lnSpc>
              <a:spcAft>
                <a:spcPts val="400"/>
              </a:spcAft>
              <a:defRPr sz="1000" b="0">
                <a:solidFill>
                  <a:srgbClr val="B99967"/>
                </a:solidFill>
                <a:latin typeface="Arial"/>
              </a:defRPr>
            </a:pPr>
            <a:r>
              <a:t>03</a:t>
            </a:r>
          </a:p>
        </p:txBody>
      </p:sp>
      <p:sp>
        <p:nvSpPr>
          <p:cNvPr id="15" name="TextBox 14"/>
          <p:cNvSpPr txBox="1"/>
          <p:nvPr/>
        </p:nvSpPr>
        <p:spPr>
          <a:xfrm>
            <a:off x="8668511" y="3172968"/>
            <a:ext cx="2651760" cy="274320"/>
          </a:xfrm>
          <a:prstGeom prst="rect">
            <a:avLst/>
          </a:prstGeom>
          <a:noFill/>
        </p:spPr>
        <p:txBody>
          <a:bodyPr wrap="square" lIns="0" rIns="0" tIns="0" bIns="0">
            <a:spAutoFit/>
          </a:bodyPr>
          <a:lstStyle/>
          <a:p>
            <a:pPr>
              <a:lnSpc>
                <a:spcPct val="112000"/>
              </a:lnSpc>
              <a:spcAft>
                <a:spcPts val="400"/>
              </a:spcAft>
              <a:defRPr sz="1800" b="0">
                <a:solidFill>
                  <a:srgbClr val="203E32"/>
                </a:solidFill>
                <a:latin typeface="Georgia"/>
              </a:defRPr>
            </a:pPr>
            <a:r>
              <a:t>Commandes</a:t>
            </a:r>
          </a:p>
        </p:txBody>
      </p:sp>
      <p:sp>
        <p:nvSpPr>
          <p:cNvPr id="16" name="TextBox 15"/>
          <p:cNvSpPr txBox="1"/>
          <p:nvPr/>
        </p:nvSpPr>
        <p:spPr>
          <a:xfrm>
            <a:off x="8211311" y="3593592"/>
            <a:ext cx="3154680" cy="530352"/>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De la création à la confirmation de livraison.</a:t>
            </a:r>
          </a:p>
        </p:txBody>
      </p:sp>
      <p:sp>
        <p:nvSpPr>
          <p:cNvPr id="17" name="Rounded Rectangle 16"/>
          <p:cNvSpPr/>
          <p:nvPr/>
        </p:nvSpPr>
        <p:spPr>
          <a:xfrm>
            <a:off x="640080" y="4343400"/>
            <a:ext cx="3520440" cy="114300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471416"/>
            <a:ext cx="457200" cy="182880"/>
          </a:xfrm>
          <a:prstGeom prst="rect">
            <a:avLst/>
          </a:prstGeom>
          <a:noFill/>
        </p:spPr>
        <p:txBody>
          <a:bodyPr wrap="square" lIns="0" rIns="0" tIns="0" bIns="0">
            <a:spAutoFit/>
          </a:bodyPr>
          <a:lstStyle/>
          <a:p>
            <a:pPr>
              <a:lnSpc>
                <a:spcPct val="128000"/>
              </a:lnSpc>
              <a:spcAft>
                <a:spcPts val="400"/>
              </a:spcAft>
              <a:defRPr sz="1000" b="0">
                <a:solidFill>
                  <a:srgbClr val="B99967"/>
                </a:solidFill>
                <a:latin typeface="Arial"/>
              </a:defRPr>
            </a:pPr>
            <a:r>
              <a:t>04</a:t>
            </a:r>
          </a:p>
        </p:txBody>
      </p:sp>
      <p:sp>
        <p:nvSpPr>
          <p:cNvPr id="19" name="TextBox 18"/>
          <p:cNvSpPr txBox="1"/>
          <p:nvPr/>
        </p:nvSpPr>
        <p:spPr>
          <a:xfrm>
            <a:off x="1280160" y="4471416"/>
            <a:ext cx="2651760" cy="274320"/>
          </a:xfrm>
          <a:prstGeom prst="rect">
            <a:avLst/>
          </a:prstGeom>
          <a:noFill/>
        </p:spPr>
        <p:txBody>
          <a:bodyPr wrap="square" lIns="0" rIns="0" tIns="0" bIns="0">
            <a:spAutoFit/>
          </a:bodyPr>
          <a:lstStyle/>
          <a:p>
            <a:pPr>
              <a:lnSpc>
                <a:spcPct val="112000"/>
              </a:lnSpc>
              <a:spcAft>
                <a:spcPts val="400"/>
              </a:spcAft>
              <a:defRPr sz="1800" b="0">
                <a:solidFill>
                  <a:srgbClr val="203E32"/>
                </a:solidFill>
                <a:latin typeface="Georgia"/>
              </a:defRPr>
            </a:pPr>
            <a:r>
              <a:t>Cave</a:t>
            </a:r>
          </a:p>
        </p:txBody>
      </p:sp>
      <p:sp>
        <p:nvSpPr>
          <p:cNvPr id="20" name="TextBox 19"/>
          <p:cNvSpPr txBox="1"/>
          <p:nvPr/>
        </p:nvSpPr>
        <p:spPr>
          <a:xfrm>
            <a:off x="822959" y="4892040"/>
            <a:ext cx="3154680" cy="530352"/>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Les lots, le vrac et les mouvements de démonstration.</a:t>
            </a:r>
          </a:p>
        </p:txBody>
      </p:sp>
      <p:sp>
        <p:nvSpPr>
          <p:cNvPr id="21" name="Rounded Rectangle 20"/>
          <p:cNvSpPr/>
          <p:nvPr/>
        </p:nvSpPr>
        <p:spPr>
          <a:xfrm>
            <a:off x="4334256" y="4343400"/>
            <a:ext cx="3520440" cy="114300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17136" y="4471416"/>
            <a:ext cx="457200" cy="182880"/>
          </a:xfrm>
          <a:prstGeom prst="rect">
            <a:avLst/>
          </a:prstGeom>
          <a:noFill/>
        </p:spPr>
        <p:txBody>
          <a:bodyPr wrap="square" lIns="0" rIns="0" tIns="0" bIns="0">
            <a:spAutoFit/>
          </a:bodyPr>
          <a:lstStyle/>
          <a:p>
            <a:pPr>
              <a:lnSpc>
                <a:spcPct val="128000"/>
              </a:lnSpc>
              <a:spcAft>
                <a:spcPts val="400"/>
              </a:spcAft>
              <a:defRPr sz="1000" b="0">
                <a:solidFill>
                  <a:srgbClr val="B99967"/>
                </a:solidFill>
                <a:latin typeface="Arial"/>
              </a:defRPr>
            </a:pPr>
            <a:r>
              <a:t>05</a:t>
            </a:r>
          </a:p>
        </p:txBody>
      </p:sp>
      <p:sp>
        <p:nvSpPr>
          <p:cNvPr id="23" name="TextBox 22"/>
          <p:cNvSpPr txBox="1"/>
          <p:nvPr/>
        </p:nvSpPr>
        <p:spPr>
          <a:xfrm>
            <a:off x="4974336" y="4471416"/>
            <a:ext cx="2651760" cy="274320"/>
          </a:xfrm>
          <a:prstGeom prst="rect">
            <a:avLst/>
          </a:prstGeom>
          <a:noFill/>
        </p:spPr>
        <p:txBody>
          <a:bodyPr wrap="square" lIns="0" rIns="0" tIns="0" bIns="0">
            <a:spAutoFit/>
          </a:bodyPr>
          <a:lstStyle/>
          <a:p>
            <a:pPr>
              <a:lnSpc>
                <a:spcPct val="112000"/>
              </a:lnSpc>
              <a:spcAft>
                <a:spcPts val="400"/>
              </a:spcAft>
              <a:defRPr sz="1800" b="0">
                <a:solidFill>
                  <a:srgbClr val="203E32"/>
                </a:solidFill>
                <a:latin typeface="Georgia"/>
              </a:defRPr>
            </a:pPr>
            <a:r>
              <a:t>Factures</a:t>
            </a:r>
          </a:p>
        </p:txBody>
      </p:sp>
      <p:sp>
        <p:nvSpPr>
          <p:cNvPr id="24" name="TextBox 23"/>
          <p:cNvSpPr txBox="1"/>
          <p:nvPr/>
        </p:nvSpPr>
        <p:spPr>
          <a:xfrm>
            <a:off x="4517136" y="4892040"/>
            <a:ext cx="3154680" cy="530352"/>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Les échéances et le suivi des règlements fictifs.</a:t>
            </a:r>
          </a:p>
        </p:txBody>
      </p:sp>
      <p:sp>
        <p:nvSpPr>
          <p:cNvPr id="25" name="Rounded Rectangle 24"/>
          <p:cNvSpPr/>
          <p:nvPr/>
        </p:nvSpPr>
        <p:spPr>
          <a:xfrm>
            <a:off x="8028431" y="4343400"/>
            <a:ext cx="3520440" cy="114300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11311" y="4471416"/>
            <a:ext cx="457200" cy="182880"/>
          </a:xfrm>
          <a:prstGeom prst="rect">
            <a:avLst/>
          </a:prstGeom>
          <a:noFill/>
        </p:spPr>
        <p:txBody>
          <a:bodyPr wrap="square" lIns="0" rIns="0" tIns="0" bIns="0">
            <a:spAutoFit/>
          </a:bodyPr>
          <a:lstStyle/>
          <a:p>
            <a:pPr>
              <a:lnSpc>
                <a:spcPct val="128000"/>
              </a:lnSpc>
              <a:spcAft>
                <a:spcPts val="400"/>
              </a:spcAft>
              <a:defRPr sz="1000" b="0">
                <a:solidFill>
                  <a:srgbClr val="B99967"/>
                </a:solidFill>
                <a:latin typeface="Arial"/>
              </a:defRPr>
            </a:pPr>
            <a:r>
              <a:t>06</a:t>
            </a:r>
          </a:p>
        </p:txBody>
      </p:sp>
      <p:sp>
        <p:nvSpPr>
          <p:cNvPr id="27" name="TextBox 26"/>
          <p:cNvSpPr txBox="1"/>
          <p:nvPr/>
        </p:nvSpPr>
        <p:spPr>
          <a:xfrm>
            <a:off x="8668511" y="4471416"/>
            <a:ext cx="2651760" cy="274320"/>
          </a:xfrm>
          <a:prstGeom prst="rect">
            <a:avLst/>
          </a:prstGeom>
          <a:noFill/>
        </p:spPr>
        <p:txBody>
          <a:bodyPr wrap="square" lIns="0" rIns="0" tIns="0" bIns="0">
            <a:spAutoFit/>
          </a:bodyPr>
          <a:lstStyle/>
          <a:p>
            <a:pPr>
              <a:lnSpc>
                <a:spcPct val="112000"/>
              </a:lnSpc>
              <a:spcAft>
                <a:spcPts val="400"/>
              </a:spcAft>
              <a:defRPr sz="1800" b="0">
                <a:solidFill>
                  <a:srgbClr val="203E32"/>
                </a:solidFill>
                <a:latin typeface="Georgia"/>
              </a:defRPr>
            </a:pPr>
            <a:r>
              <a:t>Vins &amp; stocks</a:t>
            </a:r>
          </a:p>
        </p:txBody>
      </p:sp>
      <p:sp>
        <p:nvSpPr>
          <p:cNvPr id="28" name="TextBox 27"/>
          <p:cNvSpPr txBox="1"/>
          <p:nvPr/>
        </p:nvSpPr>
        <p:spPr>
          <a:xfrm>
            <a:off x="8211311" y="4892040"/>
            <a:ext cx="3154680" cy="530352"/>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Les références, les millésimes et les bouteilles disponibles.</a:t>
            </a:r>
          </a:p>
        </p:txBody>
      </p:sp>
      <p:sp>
        <p:nvSpPr>
          <p:cNvPr id="29" name="Rectangle 28"/>
          <p:cNvSpPr/>
          <p:nvPr/>
        </p:nvSpPr>
        <p:spPr>
          <a:xfrm>
            <a:off x="640080" y="6391656"/>
            <a:ext cx="10908792" cy="7315"/>
          </a:xfrm>
          <a:prstGeom prst="rect">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6492240"/>
            <a:ext cx="91440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Cuvée · présentation de projet</a:t>
            </a:r>
          </a:p>
        </p:txBody>
      </p:sp>
      <p:sp>
        <p:nvSpPr>
          <p:cNvPr id="31" name="TextBox 30"/>
          <p:cNvSpPr txBox="1"/>
          <p:nvPr/>
        </p:nvSpPr>
        <p:spPr>
          <a:xfrm>
            <a:off x="10881360" y="6492240"/>
            <a:ext cx="6858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40080" y="502920"/>
            <a:ext cx="10972800" cy="201168"/>
          </a:xfrm>
          <a:prstGeom prst="rect">
            <a:avLst/>
          </a:prstGeom>
          <a:noFill/>
        </p:spPr>
        <p:txBody>
          <a:bodyPr wrap="square" lIns="0" rIns="0" tIns="0" bIns="0">
            <a:spAutoFit/>
          </a:bodyPr>
          <a:lstStyle/>
          <a:p>
            <a:pPr>
              <a:lnSpc>
                <a:spcPct val="128000"/>
              </a:lnSpc>
              <a:spcAft>
                <a:spcPts val="400"/>
              </a:spcAft>
              <a:defRPr sz="1000" b="1">
                <a:solidFill>
                  <a:srgbClr val="B99967"/>
                </a:solidFill>
                <a:latin typeface="Arial"/>
              </a:defRPr>
            </a:pPr>
            <a:r>
              <a:t>01 / PILOTER SON ACTIVITÉ</a:t>
            </a:r>
          </a:p>
        </p:txBody>
      </p:sp>
      <p:sp>
        <p:nvSpPr>
          <p:cNvPr id="3" name="TextBox 2"/>
          <p:cNvSpPr txBox="1"/>
          <p:nvPr/>
        </p:nvSpPr>
        <p:spPr>
          <a:xfrm>
            <a:off x="640080" y="914400"/>
            <a:ext cx="10881360" cy="1280160"/>
          </a:xfrm>
          <a:prstGeom prst="rect">
            <a:avLst/>
          </a:prstGeom>
          <a:noFill/>
        </p:spPr>
        <p:txBody>
          <a:bodyPr wrap="square" lIns="0" rIns="0" tIns="0" bIns="0">
            <a:spAutoFit/>
          </a:bodyPr>
          <a:lstStyle/>
          <a:p>
            <a:pPr>
              <a:lnSpc>
                <a:spcPct val="112000"/>
              </a:lnSpc>
              <a:spcAft>
                <a:spcPts val="400"/>
              </a:spcAft>
              <a:defRPr sz="3200" b="0">
                <a:solidFill>
                  <a:srgbClr val="203E32"/>
                </a:solidFill>
                <a:latin typeface="Georgia"/>
              </a:defRPr>
            </a:pPr>
            <a:r>
              <a:t>Commencer la journée</a:t>
            </a:r>
          </a:p>
          <a:p>
            <a:pPr>
              <a:lnSpc>
                <a:spcPct val="112000"/>
              </a:lnSpc>
              <a:spcAft>
                <a:spcPts val="400"/>
              </a:spcAft>
              <a:defRPr sz="3200" b="0">
                <a:solidFill>
                  <a:srgbClr val="203E32"/>
                </a:solidFill>
                <a:latin typeface="Georgia"/>
              </a:defRPr>
            </a:pPr>
            <a:r>
              <a:t>avec une vue claire.</a:t>
            </a:r>
          </a:p>
        </p:txBody>
      </p:sp>
      <p:sp>
        <p:nvSpPr>
          <p:cNvPr id="4" name="TextBox 3"/>
          <p:cNvSpPr txBox="1"/>
          <p:nvPr/>
        </p:nvSpPr>
        <p:spPr>
          <a:xfrm>
            <a:off x="640080" y="2258568"/>
            <a:ext cx="10881360" cy="548640"/>
          </a:xfrm>
          <a:prstGeom prst="rect">
            <a:avLst/>
          </a:prstGeom>
          <a:noFill/>
        </p:spPr>
        <p:txBody>
          <a:bodyPr wrap="square" lIns="0" rIns="0" tIns="0" bIns="0">
            <a:spAutoFit/>
          </a:bodyPr>
          <a:lstStyle/>
          <a:p>
            <a:pPr>
              <a:lnSpc>
                <a:spcPct val="128000"/>
              </a:lnSpc>
              <a:spcAft>
                <a:spcPts val="400"/>
              </a:spcAft>
              <a:defRPr sz="1300" b="0">
                <a:solidFill>
                  <a:srgbClr val="75816F"/>
                </a:solidFill>
                <a:latin typeface="Arial"/>
              </a:defRPr>
            </a:pPr>
            <a:r>
              <a:t>Les informations prioritaires se retrouvent sur un même écran.</a:t>
            </a:r>
          </a:p>
        </p:txBody>
      </p:sp>
      <p:sp>
        <p:nvSpPr>
          <p:cNvPr id="5" name="Rounded Rectangle 4"/>
          <p:cNvSpPr/>
          <p:nvPr/>
        </p:nvSpPr>
        <p:spPr>
          <a:xfrm>
            <a:off x="608075" y="2939796"/>
            <a:ext cx="6647688" cy="2898648"/>
          </a:xfrm>
          <a:prstGeom prst="roundRect">
            <a:avLst>
              <a:gd name="adj" fmla="val 6000"/>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971800"/>
            <a:ext cx="6583680" cy="283464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71800"/>
            <a:ext cx="6583680" cy="182880"/>
          </a:xfrm>
          <a:prstGeom prst="rect">
            <a:avLst/>
          </a:prstGeom>
          <a:solidFill>
            <a:srgbClr val="E7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03804"/>
            <a:ext cx="6327648" cy="109728"/>
          </a:xfrm>
          <a:prstGeom prst="rect">
            <a:avLst/>
          </a:prstGeom>
          <a:noFill/>
        </p:spPr>
        <p:txBody>
          <a:bodyPr wrap="square" lIns="0" rIns="0" tIns="0" bIns="0">
            <a:spAutoFit/>
          </a:bodyPr>
          <a:lstStyle/>
          <a:p>
            <a:pPr>
              <a:lnSpc>
                <a:spcPct val="128000"/>
              </a:lnSpc>
              <a:spcAft>
                <a:spcPts val="400"/>
              </a:spcAft>
              <a:defRPr sz="650" b="0">
                <a:solidFill>
                  <a:srgbClr val="75816F"/>
                </a:solidFill>
                <a:latin typeface="Arial"/>
              </a:defRPr>
            </a:pPr>
            <a:r>
              <a:t>Cuvée · aperçu de la maquette</a:t>
            </a:r>
          </a:p>
        </p:txBody>
      </p:sp>
      <p:pic>
        <p:nvPicPr>
          <p:cNvPr id="9" name="Picture 8" descr="dashboard.png"/>
          <p:cNvPicPr>
            <a:picLocks noChangeAspect="1"/>
          </p:cNvPicPr>
          <p:nvPr/>
        </p:nvPicPr>
        <p:blipFill>
          <a:blip r:embed="rId2"/>
          <a:srcRect b="65443"/>
          <a:stretch>
            <a:fillRect/>
          </a:stretch>
        </p:blipFill>
        <p:spPr>
          <a:xfrm>
            <a:off x="640080" y="3154680"/>
            <a:ext cx="6583680" cy="2651760"/>
          </a:xfrm>
          <a:prstGeom prst="rect">
            <a:avLst/>
          </a:prstGeom>
        </p:spPr>
      </p:pic>
      <p:sp>
        <p:nvSpPr>
          <p:cNvPr id="10" name="TextBox 9"/>
          <p:cNvSpPr txBox="1"/>
          <p:nvPr/>
        </p:nvSpPr>
        <p:spPr>
          <a:xfrm>
            <a:off x="7635240" y="2971800"/>
            <a:ext cx="3886200" cy="274320"/>
          </a:xfrm>
          <a:prstGeom prst="rect">
            <a:avLst/>
          </a:prstGeom>
          <a:noFill/>
        </p:spPr>
        <p:txBody>
          <a:bodyPr wrap="square" lIns="0" rIns="0" tIns="0" bIns="0">
            <a:spAutoFit/>
          </a:bodyPr>
          <a:lstStyle/>
          <a:p>
            <a:pPr>
              <a:lnSpc>
                <a:spcPct val="112000"/>
              </a:lnSpc>
              <a:spcAft>
                <a:spcPts val="400"/>
              </a:spcAft>
              <a:defRPr sz="1700" b="0">
                <a:solidFill>
                  <a:srgbClr val="203E32"/>
                </a:solidFill>
                <a:latin typeface="Georgia"/>
              </a:defRPr>
            </a:pPr>
            <a:r>
              <a:t>Un regard sur le mois</a:t>
            </a:r>
          </a:p>
        </p:txBody>
      </p:sp>
      <p:sp>
        <p:nvSpPr>
          <p:cNvPr id="11" name="TextBox 10"/>
          <p:cNvSpPr txBox="1"/>
          <p:nvPr/>
        </p:nvSpPr>
        <p:spPr>
          <a:xfrm>
            <a:off x="7635240" y="3310128"/>
            <a:ext cx="3886200" cy="566928"/>
          </a:xfrm>
          <a:prstGeom prst="rect">
            <a:avLst/>
          </a:prstGeom>
          <a:noFill/>
        </p:spPr>
        <p:txBody>
          <a:bodyPr wrap="square" lIns="0" rIns="0" tIns="0" bIns="0">
            <a:spAutoFit/>
          </a:bodyPr>
          <a:lstStyle/>
          <a:p>
            <a:pPr>
              <a:lnSpc>
                <a:spcPct val="128000"/>
              </a:lnSpc>
              <a:spcAft>
                <a:spcPts val="400"/>
              </a:spcAft>
              <a:defRPr sz="1150" b="0">
                <a:solidFill>
                  <a:srgbClr val="75816F"/>
                </a:solidFill>
                <a:latin typeface="Arial"/>
              </a:defRPr>
            </a:pPr>
            <a:r>
              <a:t>Montants des commandes, commandes à traiter et factures ouvertes.</a:t>
            </a:r>
          </a:p>
        </p:txBody>
      </p:sp>
      <p:sp>
        <p:nvSpPr>
          <p:cNvPr id="12" name="TextBox 11"/>
          <p:cNvSpPr txBox="1"/>
          <p:nvPr/>
        </p:nvSpPr>
        <p:spPr>
          <a:xfrm>
            <a:off x="7635240" y="3931920"/>
            <a:ext cx="3886200" cy="274320"/>
          </a:xfrm>
          <a:prstGeom prst="rect">
            <a:avLst/>
          </a:prstGeom>
          <a:noFill/>
        </p:spPr>
        <p:txBody>
          <a:bodyPr wrap="square" lIns="0" rIns="0" tIns="0" bIns="0">
            <a:spAutoFit/>
          </a:bodyPr>
          <a:lstStyle/>
          <a:p>
            <a:pPr>
              <a:lnSpc>
                <a:spcPct val="112000"/>
              </a:lnSpc>
              <a:spcAft>
                <a:spcPts val="400"/>
              </a:spcAft>
              <a:defRPr sz="1700" b="0">
                <a:solidFill>
                  <a:srgbClr val="203E32"/>
                </a:solidFill>
                <a:latin typeface="Georgia"/>
              </a:defRPr>
            </a:pPr>
            <a:r>
              <a:t>Les bonnes priorités</a:t>
            </a:r>
          </a:p>
        </p:txBody>
      </p:sp>
      <p:sp>
        <p:nvSpPr>
          <p:cNvPr id="13" name="TextBox 12"/>
          <p:cNvSpPr txBox="1"/>
          <p:nvPr/>
        </p:nvSpPr>
        <p:spPr>
          <a:xfrm>
            <a:off x="7635240" y="4270248"/>
            <a:ext cx="3886200" cy="566928"/>
          </a:xfrm>
          <a:prstGeom prst="rect">
            <a:avLst/>
          </a:prstGeom>
          <a:noFill/>
        </p:spPr>
        <p:txBody>
          <a:bodyPr wrap="square" lIns="0" rIns="0" tIns="0" bIns="0">
            <a:spAutoFit/>
          </a:bodyPr>
          <a:lstStyle/>
          <a:p>
            <a:pPr>
              <a:lnSpc>
                <a:spcPct val="128000"/>
              </a:lnSpc>
              <a:spcAft>
                <a:spcPts val="400"/>
              </a:spcAft>
              <a:defRPr sz="1150" b="0">
                <a:solidFill>
                  <a:srgbClr val="75816F"/>
                </a:solidFill>
                <a:latin typeface="Arial"/>
              </a:defRPr>
            </a:pPr>
            <a:r>
              <a:t>Identifier les préparations, les stocks bas et les échéances.</a:t>
            </a:r>
          </a:p>
        </p:txBody>
      </p:sp>
      <p:sp>
        <p:nvSpPr>
          <p:cNvPr id="14" name="TextBox 13"/>
          <p:cNvSpPr txBox="1"/>
          <p:nvPr/>
        </p:nvSpPr>
        <p:spPr>
          <a:xfrm>
            <a:off x="7635240" y="4892040"/>
            <a:ext cx="3886200" cy="274320"/>
          </a:xfrm>
          <a:prstGeom prst="rect">
            <a:avLst/>
          </a:prstGeom>
          <a:noFill/>
        </p:spPr>
        <p:txBody>
          <a:bodyPr wrap="square" lIns="0" rIns="0" tIns="0" bIns="0">
            <a:spAutoFit/>
          </a:bodyPr>
          <a:lstStyle/>
          <a:p>
            <a:pPr>
              <a:lnSpc>
                <a:spcPct val="112000"/>
              </a:lnSpc>
              <a:spcAft>
                <a:spcPts val="400"/>
              </a:spcAft>
              <a:defRPr sz="1700" b="0">
                <a:solidFill>
                  <a:srgbClr val="203E32"/>
                </a:solidFill>
                <a:latin typeface="Georgia"/>
              </a:defRPr>
            </a:pPr>
            <a:r>
              <a:t>Le détail à portée de main</a:t>
            </a:r>
          </a:p>
        </p:txBody>
      </p:sp>
      <p:sp>
        <p:nvSpPr>
          <p:cNvPr id="15" name="TextBox 14"/>
          <p:cNvSpPr txBox="1"/>
          <p:nvPr/>
        </p:nvSpPr>
        <p:spPr>
          <a:xfrm>
            <a:off x="7635240" y="5230368"/>
            <a:ext cx="3886200" cy="566928"/>
          </a:xfrm>
          <a:prstGeom prst="rect">
            <a:avLst/>
          </a:prstGeom>
          <a:noFill/>
        </p:spPr>
        <p:txBody>
          <a:bodyPr wrap="square" lIns="0" rIns="0" tIns="0" bIns="0">
            <a:spAutoFit/>
          </a:bodyPr>
          <a:lstStyle/>
          <a:p>
            <a:pPr>
              <a:lnSpc>
                <a:spcPct val="128000"/>
              </a:lnSpc>
              <a:spcAft>
                <a:spcPts val="400"/>
              </a:spcAft>
              <a:defRPr sz="1150" b="0">
                <a:solidFill>
                  <a:srgbClr val="75816F"/>
                </a:solidFill>
                <a:latin typeface="Arial"/>
              </a:defRPr>
            </a:pPr>
            <a:r>
              <a:t>Ouvrir une commande ou accéder directement à la rubrique utile.</a:t>
            </a:r>
          </a:p>
        </p:txBody>
      </p:sp>
      <p:sp>
        <p:nvSpPr>
          <p:cNvPr id="16" name="Rectangle 15"/>
          <p:cNvSpPr/>
          <p:nvPr/>
        </p:nvSpPr>
        <p:spPr>
          <a:xfrm>
            <a:off x="640080" y="6391656"/>
            <a:ext cx="10908792" cy="7315"/>
          </a:xfrm>
          <a:prstGeom prst="rect">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92240"/>
            <a:ext cx="91440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Cuvée · présentation de projet</a:t>
            </a:r>
          </a:p>
        </p:txBody>
      </p:sp>
      <p:sp>
        <p:nvSpPr>
          <p:cNvPr id="18" name="TextBox 17"/>
          <p:cNvSpPr txBox="1"/>
          <p:nvPr/>
        </p:nvSpPr>
        <p:spPr>
          <a:xfrm>
            <a:off x="10881360" y="6492240"/>
            <a:ext cx="6858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40080" y="502920"/>
            <a:ext cx="10972800" cy="201168"/>
          </a:xfrm>
          <a:prstGeom prst="rect">
            <a:avLst/>
          </a:prstGeom>
          <a:noFill/>
        </p:spPr>
        <p:txBody>
          <a:bodyPr wrap="square" lIns="0" rIns="0" tIns="0" bIns="0">
            <a:spAutoFit/>
          </a:bodyPr>
          <a:lstStyle/>
          <a:p>
            <a:pPr>
              <a:lnSpc>
                <a:spcPct val="128000"/>
              </a:lnSpc>
              <a:spcAft>
                <a:spcPts val="400"/>
              </a:spcAft>
              <a:defRPr sz="1000" b="1">
                <a:solidFill>
                  <a:srgbClr val="B99967"/>
                </a:solidFill>
                <a:latin typeface="Arial"/>
              </a:defRPr>
            </a:pPr>
            <a:r>
              <a:t>02 / ACCOMPAGNER CHAQUE CLIENT</a:t>
            </a:r>
          </a:p>
        </p:txBody>
      </p:sp>
      <p:sp>
        <p:nvSpPr>
          <p:cNvPr id="3" name="TextBox 2"/>
          <p:cNvSpPr txBox="1"/>
          <p:nvPr/>
        </p:nvSpPr>
        <p:spPr>
          <a:xfrm>
            <a:off x="640080" y="914400"/>
            <a:ext cx="10881360" cy="1280160"/>
          </a:xfrm>
          <a:prstGeom prst="rect">
            <a:avLst/>
          </a:prstGeom>
          <a:noFill/>
        </p:spPr>
        <p:txBody>
          <a:bodyPr wrap="square" lIns="0" rIns="0" tIns="0" bIns="0">
            <a:spAutoFit/>
          </a:bodyPr>
          <a:lstStyle/>
          <a:p>
            <a:pPr>
              <a:lnSpc>
                <a:spcPct val="112000"/>
              </a:lnSpc>
              <a:spcAft>
                <a:spcPts val="400"/>
              </a:spcAft>
              <a:defRPr sz="3200" b="0">
                <a:solidFill>
                  <a:srgbClr val="203E32"/>
                </a:solidFill>
                <a:latin typeface="Georgia"/>
              </a:defRPr>
            </a:pPr>
            <a:r>
              <a:t>Une commande,</a:t>
            </a:r>
          </a:p>
          <a:p>
            <a:pPr>
              <a:lnSpc>
                <a:spcPct val="112000"/>
              </a:lnSpc>
              <a:spcAft>
                <a:spcPts val="400"/>
              </a:spcAft>
              <a:defRPr sz="3200" b="0">
                <a:solidFill>
                  <a:srgbClr val="203E32"/>
                </a:solidFill>
                <a:latin typeface="Georgia"/>
              </a:defRPr>
            </a:pPr>
            <a:r>
              <a:t>sans perdre le fil.</a:t>
            </a:r>
          </a:p>
        </p:txBody>
      </p:sp>
      <p:sp>
        <p:nvSpPr>
          <p:cNvPr id="4" name="TextBox 3"/>
          <p:cNvSpPr txBox="1"/>
          <p:nvPr/>
        </p:nvSpPr>
        <p:spPr>
          <a:xfrm>
            <a:off x="640080" y="2258568"/>
            <a:ext cx="10881360" cy="548640"/>
          </a:xfrm>
          <a:prstGeom prst="rect">
            <a:avLst/>
          </a:prstGeom>
          <a:noFill/>
        </p:spPr>
        <p:txBody>
          <a:bodyPr wrap="square" lIns="0" rIns="0" tIns="0" bIns="0">
            <a:spAutoFit/>
          </a:bodyPr>
          <a:lstStyle/>
          <a:p>
            <a:pPr>
              <a:lnSpc>
                <a:spcPct val="128000"/>
              </a:lnSpc>
              <a:spcAft>
                <a:spcPts val="400"/>
              </a:spcAft>
              <a:defRPr sz="1300" b="0">
                <a:solidFill>
                  <a:srgbClr val="75816F"/>
                </a:solidFill>
                <a:latin typeface="Arial"/>
              </a:defRPr>
            </a:pPr>
            <a:r>
              <a:t>Conserver le contexte du client, du vin choisi et de la livraison.</a:t>
            </a:r>
          </a:p>
        </p:txBody>
      </p:sp>
      <p:sp>
        <p:nvSpPr>
          <p:cNvPr id="5" name="Rounded Rectangle 4"/>
          <p:cNvSpPr/>
          <p:nvPr/>
        </p:nvSpPr>
        <p:spPr>
          <a:xfrm>
            <a:off x="608075" y="2939796"/>
            <a:ext cx="6647688" cy="2898648"/>
          </a:xfrm>
          <a:prstGeom prst="roundRect">
            <a:avLst>
              <a:gd name="adj" fmla="val 6000"/>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971800"/>
            <a:ext cx="6583680" cy="283464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71800"/>
            <a:ext cx="6583680" cy="182880"/>
          </a:xfrm>
          <a:prstGeom prst="rect">
            <a:avLst/>
          </a:prstGeom>
          <a:solidFill>
            <a:srgbClr val="E7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03804"/>
            <a:ext cx="6327648" cy="109728"/>
          </a:xfrm>
          <a:prstGeom prst="rect">
            <a:avLst/>
          </a:prstGeom>
          <a:noFill/>
        </p:spPr>
        <p:txBody>
          <a:bodyPr wrap="square" lIns="0" rIns="0" tIns="0" bIns="0">
            <a:spAutoFit/>
          </a:bodyPr>
          <a:lstStyle/>
          <a:p>
            <a:pPr>
              <a:lnSpc>
                <a:spcPct val="128000"/>
              </a:lnSpc>
              <a:spcAft>
                <a:spcPts val="400"/>
              </a:spcAft>
              <a:defRPr sz="650" b="0">
                <a:solidFill>
                  <a:srgbClr val="75816F"/>
                </a:solidFill>
                <a:latin typeface="Arial"/>
              </a:defRPr>
            </a:pPr>
            <a:r>
              <a:t>Cuvée · aperçu de la maquette</a:t>
            </a:r>
          </a:p>
        </p:txBody>
      </p:sp>
      <p:pic>
        <p:nvPicPr>
          <p:cNvPr id="9" name="Picture 8" descr="orders.png"/>
          <p:cNvPicPr>
            <a:picLocks noChangeAspect="1"/>
          </p:cNvPicPr>
          <p:nvPr/>
        </p:nvPicPr>
        <p:blipFill>
          <a:blip r:embed="rId2"/>
          <a:srcRect b="52996"/>
          <a:stretch>
            <a:fillRect/>
          </a:stretch>
        </p:blipFill>
        <p:spPr>
          <a:xfrm>
            <a:off x="640080" y="3154680"/>
            <a:ext cx="6583680" cy="2651760"/>
          </a:xfrm>
          <a:prstGeom prst="rect">
            <a:avLst/>
          </a:prstGeom>
        </p:spPr>
      </p:pic>
      <p:sp>
        <p:nvSpPr>
          <p:cNvPr id="10" name="TextBox 9"/>
          <p:cNvSpPr txBox="1"/>
          <p:nvPr/>
        </p:nvSpPr>
        <p:spPr>
          <a:xfrm>
            <a:off x="7635240" y="2971800"/>
            <a:ext cx="3886200" cy="274320"/>
          </a:xfrm>
          <a:prstGeom prst="rect">
            <a:avLst/>
          </a:prstGeom>
          <a:noFill/>
        </p:spPr>
        <p:txBody>
          <a:bodyPr wrap="square" lIns="0" rIns="0" tIns="0" bIns="0">
            <a:spAutoFit/>
          </a:bodyPr>
          <a:lstStyle/>
          <a:p>
            <a:pPr>
              <a:lnSpc>
                <a:spcPct val="112000"/>
              </a:lnSpc>
              <a:spcAft>
                <a:spcPts val="400"/>
              </a:spcAft>
              <a:defRPr sz="1700" b="0">
                <a:solidFill>
                  <a:srgbClr val="203E32"/>
                </a:solidFill>
                <a:latin typeface="Georgia"/>
              </a:defRPr>
            </a:pPr>
            <a:r>
              <a:t>Créer simplement</a:t>
            </a:r>
          </a:p>
        </p:txBody>
      </p:sp>
      <p:sp>
        <p:nvSpPr>
          <p:cNvPr id="11" name="TextBox 10"/>
          <p:cNvSpPr txBox="1"/>
          <p:nvPr/>
        </p:nvSpPr>
        <p:spPr>
          <a:xfrm>
            <a:off x="7635240" y="3310128"/>
            <a:ext cx="3886200" cy="566928"/>
          </a:xfrm>
          <a:prstGeom prst="rect">
            <a:avLst/>
          </a:prstGeom>
          <a:noFill/>
        </p:spPr>
        <p:txBody>
          <a:bodyPr wrap="square" lIns="0" rIns="0" tIns="0" bIns="0">
            <a:spAutoFit/>
          </a:bodyPr>
          <a:lstStyle/>
          <a:p>
            <a:pPr>
              <a:lnSpc>
                <a:spcPct val="128000"/>
              </a:lnSpc>
              <a:spcAft>
                <a:spcPts val="400"/>
              </a:spcAft>
              <a:defRPr sz="1150" b="0">
                <a:solidFill>
                  <a:srgbClr val="75816F"/>
                </a:solidFill>
                <a:latin typeface="Arial"/>
              </a:defRPr>
            </a:pPr>
            <a:r>
              <a:t>Choisir le client, le vin et la quantité dans un formulaire.</a:t>
            </a:r>
          </a:p>
        </p:txBody>
      </p:sp>
      <p:sp>
        <p:nvSpPr>
          <p:cNvPr id="12" name="TextBox 11"/>
          <p:cNvSpPr txBox="1"/>
          <p:nvPr/>
        </p:nvSpPr>
        <p:spPr>
          <a:xfrm>
            <a:off x="7635240" y="3931920"/>
            <a:ext cx="3886200" cy="274320"/>
          </a:xfrm>
          <a:prstGeom prst="rect">
            <a:avLst/>
          </a:prstGeom>
          <a:noFill/>
        </p:spPr>
        <p:txBody>
          <a:bodyPr wrap="square" lIns="0" rIns="0" tIns="0" bIns="0">
            <a:spAutoFit/>
          </a:bodyPr>
          <a:lstStyle/>
          <a:p>
            <a:pPr>
              <a:lnSpc>
                <a:spcPct val="112000"/>
              </a:lnSpc>
              <a:spcAft>
                <a:spcPts val="400"/>
              </a:spcAft>
              <a:defRPr sz="1700" b="0">
                <a:solidFill>
                  <a:srgbClr val="203E32"/>
                </a:solidFill>
                <a:latin typeface="Georgia"/>
              </a:defRPr>
            </a:pPr>
            <a:r>
              <a:t>Suivre la préparation</a:t>
            </a:r>
          </a:p>
        </p:txBody>
      </p:sp>
      <p:sp>
        <p:nvSpPr>
          <p:cNvPr id="13" name="TextBox 12"/>
          <p:cNvSpPr txBox="1"/>
          <p:nvPr/>
        </p:nvSpPr>
        <p:spPr>
          <a:xfrm>
            <a:off x="7635240" y="4270248"/>
            <a:ext cx="3886200" cy="566928"/>
          </a:xfrm>
          <a:prstGeom prst="rect">
            <a:avLst/>
          </a:prstGeom>
          <a:noFill/>
        </p:spPr>
        <p:txBody>
          <a:bodyPr wrap="square" lIns="0" rIns="0" tIns="0" bIns="0">
            <a:spAutoFit/>
          </a:bodyPr>
          <a:lstStyle/>
          <a:p>
            <a:pPr>
              <a:lnSpc>
                <a:spcPct val="128000"/>
              </a:lnSpc>
              <a:spcAft>
                <a:spcPts val="400"/>
              </a:spcAft>
              <a:defRPr sz="1150" b="0">
                <a:solidFill>
                  <a:srgbClr val="75816F"/>
                </a:solidFill>
                <a:latin typeface="Arial"/>
              </a:defRPr>
            </a:pPr>
            <a:r>
              <a:t>Passer de « À préparer » à « En préparation », puis à « Livrée ».</a:t>
            </a:r>
          </a:p>
        </p:txBody>
      </p:sp>
      <p:sp>
        <p:nvSpPr>
          <p:cNvPr id="14" name="TextBox 13"/>
          <p:cNvSpPr txBox="1"/>
          <p:nvPr/>
        </p:nvSpPr>
        <p:spPr>
          <a:xfrm>
            <a:off x="7635240" y="4892040"/>
            <a:ext cx="3886200" cy="274320"/>
          </a:xfrm>
          <a:prstGeom prst="rect">
            <a:avLst/>
          </a:prstGeom>
          <a:noFill/>
        </p:spPr>
        <p:txBody>
          <a:bodyPr wrap="square" lIns="0" rIns="0" tIns="0" bIns="0">
            <a:spAutoFit/>
          </a:bodyPr>
          <a:lstStyle/>
          <a:p>
            <a:pPr>
              <a:lnSpc>
                <a:spcPct val="112000"/>
              </a:lnSpc>
              <a:spcAft>
                <a:spcPts val="400"/>
              </a:spcAft>
              <a:defRPr sz="1700" b="0">
                <a:solidFill>
                  <a:srgbClr val="203E32"/>
                </a:solidFill>
                <a:latin typeface="Georgia"/>
              </a:defRPr>
            </a:pPr>
            <a:r>
              <a:t>Retrouver les disponibilités</a:t>
            </a:r>
          </a:p>
        </p:txBody>
      </p:sp>
      <p:sp>
        <p:nvSpPr>
          <p:cNvPr id="15" name="TextBox 14"/>
          <p:cNvSpPr txBox="1"/>
          <p:nvPr/>
        </p:nvSpPr>
        <p:spPr>
          <a:xfrm>
            <a:off x="7635240" y="5230368"/>
            <a:ext cx="3886200" cy="566928"/>
          </a:xfrm>
          <a:prstGeom prst="rect">
            <a:avLst/>
          </a:prstGeom>
          <a:noFill/>
        </p:spPr>
        <p:txBody>
          <a:bodyPr wrap="square" lIns="0" rIns="0" tIns="0" bIns="0">
            <a:spAutoFit/>
          </a:bodyPr>
          <a:lstStyle/>
          <a:p>
            <a:pPr>
              <a:lnSpc>
                <a:spcPct val="128000"/>
              </a:lnSpc>
              <a:spcAft>
                <a:spcPts val="400"/>
              </a:spcAft>
              <a:defRPr sz="1150" b="0">
                <a:solidFill>
                  <a:srgbClr val="75816F"/>
                </a:solidFill>
                <a:latin typeface="Arial"/>
              </a:defRPr>
            </a:pPr>
            <a:r>
              <a:t>La livraison de démonstration actualise le stock en bouteilles.</a:t>
            </a:r>
          </a:p>
        </p:txBody>
      </p:sp>
      <p:sp>
        <p:nvSpPr>
          <p:cNvPr id="16" name="Rectangle 15"/>
          <p:cNvSpPr/>
          <p:nvPr/>
        </p:nvSpPr>
        <p:spPr>
          <a:xfrm>
            <a:off x="640080" y="6391656"/>
            <a:ext cx="10908792" cy="7315"/>
          </a:xfrm>
          <a:prstGeom prst="rect">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92240"/>
            <a:ext cx="91440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Cuvée · présentation de projet</a:t>
            </a:r>
          </a:p>
        </p:txBody>
      </p:sp>
      <p:sp>
        <p:nvSpPr>
          <p:cNvPr id="18" name="TextBox 17"/>
          <p:cNvSpPr txBox="1"/>
          <p:nvPr/>
        </p:nvSpPr>
        <p:spPr>
          <a:xfrm>
            <a:off x="10881360" y="6492240"/>
            <a:ext cx="6858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40080" y="502920"/>
            <a:ext cx="10972800" cy="201168"/>
          </a:xfrm>
          <a:prstGeom prst="rect">
            <a:avLst/>
          </a:prstGeom>
          <a:noFill/>
        </p:spPr>
        <p:txBody>
          <a:bodyPr wrap="square" lIns="0" rIns="0" tIns="0" bIns="0">
            <a:spAutoFit/>
          </a:bodyPr>
          <a:lstStyle/>
          <a:p>
            <a:pPr>
              <a:lnSpc>
                <a:spcPct val="128000"/>
              </a:lnSpc>
              <a:spcAft>
                <a:spcPts val="400"/>
              </a:spcAft>
              <a:defRPr sz="1000" b="1">
                <a:solidFill>
                  <a:srgbClr val="B99967"/>
                </a:solidFill>
                <a:latin typeface="Arial"/>
              </a:defRPr>
            </a:pPr>
            <a:r>
              <a:t>03 / SUIVRE LA CAVE</a:t>
            </a:r>
          </a:p>
        </p:txBody>
      </p:sp>
      <p:sp>
        <p:nvSpPr>
          <p:cNvPr id="3" name="TextBox 2"/>
          <p:cNvSpPr txBox="1"/>
          <p:nvPr/>
        </p:nvSpPr>
        <p:spPr>
          <a:xfrm>
            <a:off x="640080" y="914400"/>
            <a:ext cx="10881360" cy="1280160"/>
          </a:xfrm>
          <a:prstGeom prst="rect">
            <a:avLst/>
          </a:prstGeom>
          <a:noFill/>
        </p:spPr>
        <p:txBody>
          <a:bodyPr wrap="square" lIns="0" rIns="0" tIns="0" bIns="0">
            <a:spAutoFit/>
          </a:bodyPr>
          <a:lstStyle/>
          <a:p>
            <a:pPr>
              <a:lnSpc>
                <a:spcPct val="112000"/>
              </a:lnSpc>
              <a:spcAft>
                <a:spcPts val="400"/>
              </a:spcAft>
              <a:defRPr sz="3200" b="0">
                <a:solidFill>
                  <a:srgbClr val="203E32"/>
                </a:solidFill>
                <a:latin typeface="Georgia"/>
              </a:defRPr>
            </a:pPr>
            <a:r>
              <a:t>Du vrac à la bouteille,</a:t>
            </a:r>
          </a:p>
          <a:p>
            <a:pPr>
              <a:lnSpc>
                <a:spcPct val="112000"/>
              </a:lnSpc>
              <a:spcAft>
                <a:spcPts val="400"/>
              </a:spcAft>
              <a:defRPr sz="3200" b="0">
                <a:solidFill>
                  <a:srgbClr val="203E32"/>
                </a:solidFill>
                <a:latin typeface="Georgia"/>
              </a:defRPr>
            </a:pPr>
            <a:r>
              <a:t>une histoire lisible.</a:t>
            </a:r>
          </a:p>
        </p:txBody>
      </p:sp>
      <p:sp>
        <p:nvSpPr>
          <p:cNvPr id="4" name="TextBox 3"/>
          <p:cNvSpPr txBox="1"/>
          <p:nvPr/>
        </p:nvSpPr>
        <p:spPr>
          <a:xfrm>
            <a:off x="640080" y="2258568"/>
            <a:ext cx="10881360" cy="548640"/>
          </a:xfrm>
          <a:prstGeom prst="rect">
            <a:avLst/>
          </a:prstGeom>
          <a:noFill/>
        </p:spPr>
        <p:txBody>
          <a:bodyPr wrap="square" lIns="0" rIns="0" tIns="0" bIns="0">
            <a:spAutoFit/>
          </a:bodyPr>
          <a:lstStyle/>
          <a:p>
            <a:pPr>
              <a:lnSpc>
                <a:spcPct val="128000"/>
              </a:lnSpc>
              <a:spcAft>
                <a:spcPts val="400"/>
              </a:spcAft>
              <a:defRPr sz="1300" b="0">
                <a:solidFill>
                  <a:srgbClr val="75816F"/>
                </a:solidFill>
                <a:latin typeface="Arial"/>
              </a:defRPr>
            </a:pPr>
            <a:r>
              <a:t>Visualiser les lots et enregistrer les mouvements dans un journal clair.</a:t>
            </a:r>
          </a:p>
        </p:txBody>
      </p:sp>
      <p:sp>
        <p:nvSpPr>
          <p:cNvPr id="5" name="Rounded Rectangle 4"/>
          <p:cNvSpPr/>
          <p:nvPr/>
        </p:nvSpPr>
        <p:spPr>
          <a:xfrm>
            <a:off x="608075" y="2939796"/>
            <a:ext cx="6647688" cy="2898648"/>
          </a:xfrm>
          <a:prstGeom prst="roundRect">
            <a:avLst>
              <a:gd name="adj" fmla="val 6000"/>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971800"/>
            <a:ext cx="6583680" cy="283464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971800"/>
            <a:ext cx="6583680" cy="182880"/>
          </a:xfrm>
          <a:prstGeom prst="rect">
            <a:avLst/>
          </a:prstGeom>
          <a:solidFill>
            <a:srgbClr val="E7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03804"/>
            <a:ext cx="6327648" cy="109728"/>
          </a:xfrm>
          <a:prstGeom prst="rect">
            <a:avLst/>
          </a:prstGeom>
          <a:noFill/>
        </p:spPr>
        <p:txBody>
          <a:bodyPr wrap="square" lIns="0" rIns="0" tIns="0" bIns="0">
            <a:spAutoFit/>
          </a:bodyPr>
          <a:lstStyle/>
          <a:p>
            <a:pPr>
              <a:lnSpc>
                <a:spcPct val="128000"/>
              </a:lnSpc>
              <a:spcAft>
                <a:spcPts val="400"/>
              </a:spcAft>
              <a:defRPr sz="650" b="0">
                <a:solidFill>
                  <a:srgbClr val="75816F"/>
                </a:solidFill>
                <a:latin typeface="Arial"/>
              </a:defRPr>
            </a:pPr>
            <a:r>
              <a:t>Cuvée · aperçu de la maquette</a:t>
            </a:r>
          </a:p>
        </p:txBody>
      </p:sp>
      <p:pic>
        <p:nvPicPr>
          <p:cNvPr id="9" name="Picture 8" descr="cave.png"/>
          <p:cNvPicPr>
            <a:picLocks noChangeAspect="1"/>
          </p:cNvPicPr>
          <p:nvPr/>
        </p:nvPicPr>
        <p:blipFill>
          <a:blip r:embed="rId2"/>
          <a:srcRect b="49882"/>
          <a:stretch>
            <a:fillRect/>
          </a:stretch>
        </p:blipFill>
        <p:spPr>
          <a:xfrm>
            <a:off x="640080" y="3154680"/>
            <a:ext cx="6583680" cy="2651760"/>
          </a:xfrm>
          <a:prstGeom prst="rect">
            <a:avLst/>
          </a:prstGeom>
        </p:spPr>
      </p:pic>
      <p:sp>
        <p:nvSpPr>
          <p:cNvPr id="10" name="TextBox 9"/>
          <p:cNvSpPr txBox="1"/>
          <p:nvPr/>
        </p:nvSpPr>
        <p:spPr>
          <a:xfrm>
            <a:off x="7635240" y="2971800"/>
            <a:ext cx="3886200" cy="274320"/>
          </a:xfrm>
          <a:prstGeom prst="rect">
            <a:avLst/>
          </a:prstGeom>
          <a:noFill/>
        </p:spPr>
        <p:txBody>
          <a:bodyPr wrap="square" lIns="0" rIns="0" tIns="0" bIns="0">
            <a:spAutoFit/>
          </a:bodyPr>
          <a:lstStyle/>
          <a:p>
            <a:pPr>
              <a:lnSpc>
                <a:spcPct val="112000"/>
              </a:lnSpc>
              <a:spcAft>
                <a:spcPts val="400"/>
              </a:spcAft>
              <a:defRPr sz="1700" b="0">
                <a:solidFill>
                  <a:srgbClr val="203E32"/>
                </a:solidFill>
                <a:latin typeface="Georgia"/>
              </a:defRPr>
            </a:pPr>
            <a:r>
              <a:t>Les volumes sous les yeux</a:t>
            </a:r>
          </a:p>
        </p:txBody>
      </p:sp>
      <p:sp>
        <p:nvSpPr>
          <p:cNvPr id="11" name="TextBox 10"/>
          <p:cNvSpPr txBox="1"/>
          <p:nvPr/>
        </p:nvSpPr>
        <p:spPr>
          <a:xfrm>
            <a:off x="7635240" y="3310128"/>
            <a:ext cx="3886200" cy="566928"/>
          </a:xfrm>
          <a:prstGeom prst="rect">
            <a:avLst/>
          </a:prstGeom>
          <a:noFill/>
        </p:spPr>
        <p:txBody>
          <a:bodyPr wrap="square" lIns="0" rIns="0" tIns="0" bIns="0">
            <a:spAutoFit/>
          </a:bodyPr>
          <a:lstStyle/>
          <a:p>
            <a:pPr>
              <a:lnSpc>
                <a:spcPct val="128000"/>
              </a:lnSpc>
              <a:spcAft>
                <a:spcPts val="400"/>
              </a:spcAft>
              <a:defRPr sz="1150" b="0">
                <a:solidFill>
                  <a:srgbClr val="75816F"/>
                </a:solidFill>
                <a:latin typeface="Arial"/>
              </a:defRPr>
            </a:pPr>
            <a:r>
              <a:t>Consulter le solde de vrac et le millésime de chaque lot fictif.</a:t>
            </a:r>
          </a:p>
        </p:txBody>
      </p:sp>
      <p:sp>
        <p:nvSpPr>
          <p:cNvPr id="12" name="TextBox 11"/>
          <p:cNvSpPr txBox="1"/>
          <p:nvPr/>
        </p:nvSpPr>
        <p:spPr>
          <a:xfrm>
            <a:off x="7635240" y="3931920"/>
            <a:ext cx="3886200" cy="274320"/>
          </a:xfrm>
          <a:prstGeom prst="rect">
            <a:avLst/>
          </a:prstGeom>
          <a:noFill/>
        </p:spPr>
        <p:txBody>
          <a:bodyPr wrap="square" lIns="0" rIns="0" tIns="0" bIns="0">
            <a:spAutoFit/>
          </a:bodyPr>
          <a:lstStyle/>
          <a:p>
            <a:pPr>
              <a:lnSpc>
                <a:spcPct val="112000"/>
              </a:lnSpc>
              <a:spcAft>
                <a:spcPts val="400"/>
              </a:spcAft>
              <a:defRPr sz="1700" b="0">
                <a:solidFill>
                  <a:srgbClr val="203E32"/>
                </a:solidFill>
                <a:latin typeface="Georgia"/>
              </a:defRPr>
            </a:pPr>
            <a:r>
              <a:t>Des saisies guidées</a:t>
            </a:r>
          </a:p>
        </p:txBody>
      </p:sp>
      <p:sp>
        <p:nvSpPr>
          <p:cNvPr id="13" name="TextBox 12"/>
          <p:cNvSpPr txBox="1"/>
          <p:nvPr/>
        </p:nvSpPr>
        <p:spPr>
          <a:xfrm>
            <a:off x="7635240" y="4270248"/>
            <a:ext cx="3886200" cy="566928"/>
          </a:xfrm>
          <a:prstGeom prst="rect">
            <a:avLst/>
          </a:prstGeom>
          <a:noFill/>
        </p:spPr>
        <p:txBody>
          <a:bodyPr wrap="square" lIns="0" rIns="0" tIns="0" bIns="0">
            <a:spAutoFit/>
          </a:bodyPr>
          <a:lstStyle/>
          <a:p>
            <a:pPr>
              <a:lnSpc>
                <a:spcPct val="128000"/>
              </a:lnSpc>
              <a:spcAft>
                <a:spcPts val="400"/>
              </a:spcAft>
              <a:defRPr sz="1150" b="0">
                <a:solidFill>
                  <a:srgbClr val="75816F"/>
                </a:solidFill>
                <a:latin typeface="Arial"/>
              </a:defRPr>
            </a:pPr>
            <a:r>
              <a:t>Essayer une entrée, une sortie de vrac ou une mise de 75 cl.</a:t>
            </a:r>
          </a:p>
        </p:txBody>
      </p:sp>
      <p:sp>
        <p:nvSpPr>
          <p:cNvPr id="14" name="TextBox 13"/>
          <p:cNvSpPr txBox="1"/>
          <p:nvPr/>
        </p:nvSpPr>
        <p:spPr>
          <a:xfrm>
            <a:off x="7635240" y="4892040"/>
            <a:ext cx="3886200" cy="274320"/>
          </a:xfrm>
          <a:prstGeom prst="rect">
            <a:avLst/>
          </a:prstGeom>
          <a:noFill/>
        </p:spPr>
        <p:txBody>
          <a:bodyPr wrap="square" lIns="0" rIns="0" tIns="0" bIns="0">
            <a:spAutoFit/>
          </a:bodyPr>
          <a:lstStyle/>
          <a:p>
            <a:pPr>
              <a:lnSpc>
                <a:spcPct val="112000"/>
              </a:lnSpc>
              <a:spcAft>
                <a:spcPts val="400"/>
              </a:spcAft>
              <a:defRPr sz="1700" b="0">
                <a:solidFill>
                  <a:srgbClr val="203E32"/>
                </a:solidFill>
                <a:latin typeface="Georgia"/>
              </a:defRPr>
            </a:pPr>
            <a:r>
              <a:t>Des liens visibles</a:t>
            </a:r>
          </a:p>
        </p:txBody>
      </p:sp>
      <p:sp>
        <p:nvSpPr>
          <p:cNvPr id="15" name="TextBox 14"/>
          <p:cNvSpPr txBox="1"/>
          <p:nvPr/>
        </p:nvSpPr>
        <p:spPr>
          <a:xfrm>
            <a:off x="7635240" y="5230368"/>
            <a:ext cx="3886200" cy="566928"/>
          </a:xfrm>
          <a:prstGeom prst="rect">
            <a:avLst/>
          </a:prstGeom>
          <a:noFill/>
        </p:spPr>
        <p:txBody>
          <a:bodyPr wrap="square" lIns="0" rIns="0" tIns="0" bIns="0">
            <a:spAutoFit/>
          </a:bodyPr>
          <a:lstStyle/>
          <a:p>
            <a:pPr>
              <a:lnSpc>
                <a:spcPct val="128000"/>
              </a:lnSpc>
              <a:spcAft>
                <a:spcPts val="400"/>
              </a:spcAft>
              <a:defRPr sz="1150" b="0">
                <a:solidFill>
                  <a:srgbClr val="75816F"/>
                </a:solidFill>
                <a:latin typeface="Arial"/>
              </a:defRPr>
            </a:pPr>
            <a:r>
              <a:t>Une mise retire le volume du lot et ajoute les bouteilles au millésime concerné.</a:t>
            </a:r>
          </a:p>
        </p:txBody>
      </p:sp>
      <p:sp>
        <p:nvSpPr>
          <p:cNvPr id="16" name="TextBox 15"/>
          <p:cNvSpPr txBox="1"/>
          <p:nvPr/>
        </p:nvSpPr>
        <p:spPr>
          <a:xfrm>
            <a:off x="640080" y="5980176"/>
            <a:ext cx="10908792" cy="256032"/>
          </a:xfrm>
          <a:prstGeom prst="rect">
            <a:avLst/>
          </a:prstGeom>
          <a:noFill/>
        </p:spPr>
        <p:txBody>
          <a:bodyPr wrap="square" lIns="0" rIns="0" tIns="0" bIns="0">
            <a:spAutoFit/>
          </a:bodyPr>
          <a:lstStyle/>
          <a:p>
            <a:pPr>
              <a:lnSpc>
                <a:spcPct val="128000"/>
              </a:lnSpc>
              <a:spcAft>
                <a:spcPts val="400"/>
              </a:spcAft>
              <a:defRPr sz="900" b="0">
                <a:solidFill>
                  <a:srgbClr val="75816F"/>
                </a:solidFill>
                <a:latin typeface="Arial"/>
              </a:defRPr>
            </a:pPr>
            <a:r>
              <a:t>La maquette ne remplace pas un contrôle de cave officiel ou agréé.</a:t>
            </a:r>
          </a:p>
        </p:txBody>
      </p:sp>
      <p:sp>
        <p:nvSpPr>
          <p:cNvPr id="17" name="Rectangle 16"/>
          <p:cNvSpPr/>
          <p:nvPr/>
        </p:nvSpPr>
        <p:spPr>
          <a:xfrm>
            <a:off x="640080" y="6391656"/>
            <a:ext cx="10908792" cy="7315"/>
          </a:xfrm>
          <a:prstGeom prst="rect">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492240"/>
            <a:ext cx="91440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Cuvée · présentation de projet</a:t>
            </a:r>
          </a:p>
        </p:txBody>
      </p:sp>
      <p:sp>
        <p:nvSpPr>
          <p:cNvPr id="19" name="TextBox 18"/>
          <p:cNvSpPr txBox="1"/>
          <p:nvPr/>
        </p:nvSpPr>
        <p:spPr>
          <a:xfrm>
            <a:off x="10881360" y="6492240"/>
            <a:ext cx="6858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40080" y="502920"/>
            <a:ext cx="10972800" cy="201168"/>
          </a:xfrm>
          <a:prstGeom prst="rect">
            <a:avLst/>
          </a:prstGeom>
          <a:noFill/>
        </p:spPr>
        <p:txBody>
          <a:bodyPr wrap="square" lIns="0" rIns="0" tIns="0" bIns="0">
            <a:spAutoFit/>
          </a:bodyPr>
          <a:lstStyle/>
          <a:p>
            <a:pPr>
              <a:lnSpc>
                <a:spcPct val="128000"/>
              </a:lnSpc>
              <a:spcAft>
                <a:spcPts val="400"/>
              </a:spcAft>
              <a:defRPr sz="1000" b="1">
                <a:solidFill>
                  <a:srgbClr val="B99967"/>
                </a:solidFill>
                <a:latin typeface="Arial"/>
              </a:defRPr>
            </a:pPr>
            <a:r>
              <a:t>04 / GARDER UNE GESTION SEREINE</a:t>
            </a:r>
          </a:p>
        </p:txBody>
      </p:sp>
      <p:sp>
        <p:nvSpPr>
          <p:cNvPr id="3" name="TextBox 2"/>
          <p:cNvSpPr txBox="1"/>
          <p:nvPr/>
        </p:nvSpPr>
        <p:spPr>
          <a:xfrm>
            <a:off x="640080" y="914400"/>
            <a:ext cx="10881360" cy="1280160"/>
          </a:xfrm>
          <a:prstGeom prst="rect">
            <a:avLst/>
          </a:prstGeom>
          <a:noFill/>
        </p:spPr>
        <p:txBody>
          <a:bodyPr wrap="square" lIns="0" rIns="0" tIns="0" bIns="0">
            <a:spAutoFit/>
          </a:bodyPr>
          <a:lstStyle/>
          <a:p>
            <a:pPr>
              <a:lnSpc>
                <a:spcPct val="112000"/>
              </a:lnSpc>
              <a:spcAft>
                <a:spcPts val="400"/>
              </a:spcAft>
              <a:defRPr sz="3200" b="0">
                <a:solidFill>
                  <a:srgbClr val="203E32"/>
                </a:solidFill>
                <a:latin typeface="Georgia"/>
              </a:defRPr>
            </a:pPr>
            <a:r>
              <a:t>Des échéances claires.</a:t>
            </a:r>
          </a:p>
          <a:p>
            <a:pPr>
              <a:lnSpc>
                <a:spcPct val="112000"/>
              </a:lnSpc>
              <a:spcAft>
                <a:spcPts val="400"/>
              </a:spcAft>
              <a:defRPr sz="3200" b="0">
                <a:solidFill>
                  <a:srgbClr val="203E32"/>
                </a:solidFill>
                <a:latin typeface="Georgia"/>
              </a:defRPr>
            </a:pPr>
            <a:r>
              <a:t>Un suivi plus facile.</a:t>
            </a:r>
          </a:p>
        </p:txBody>
      </p:sp>
      <p:sp>
        <p:nvSpPr>
          <p:cNvPr id="4" name="TextBox 3"/>
          <p:cNvSpPr txBox="1"/>
          <p:nvPr/>
        </p:nvSpPr>
        <p:spPr>
          <a:xfrm>
            <a:off x="640080" y="2258568"/>
            <a:ext cx="10881360" cy="548640"/>
          </a:xfrm>
          <a:prstGeom prst="rect">
            <a:avLst/>
          </a:prstGeom>
          <a:noFill/>
        </p:spPr>
        <p:txBody>
          <a:bodyPr wrap="square" lIns="0" rIns="0" tIns="0" bIns="0">
            <a:spAutoFit/>
          </a:bodyPr>
          <a:lstStyle/>
          <a:p>
            <a:pPr>
              <a:lnSpc>
                <a:spcPct val="128000"/>
              </a:lnSpc>
              <a:spcAft>
                <a:spcPts val="400"/>
              </a:spcAft>
              <a:defRPr sz="1300" b="0">
                <a:solidFill>
                  <a:srgbClr val="75816F"/>
                </a:solidFill>
                <a:latin typeface="Arial"/>
              </a:defRPr>
            </a:pPr>
            <a:r>
              <a:t>Retrouver les factures liées aux commandes et suivre leur règlement.</a:t>
            </a:r>
          </a:p>
        </p:txBody>
      </p:sp>
      <p:sp>
        <p:nvSpPr>
          <p:cNvPr id="5" name="Rounded Rectangle 4"/>
          <p:cNvSpPr/>
          <p:nvPr/>
        </p:nvSpPr>
        <p:spPr>
          <a:xfrm>
            <a:off x="1110996" y="2939796"/>
            <a:ext cx="3950208" cy="2898648"/>
          </a:xfrm>
          <a:prstGeom prst="roundRect">
            <a:avLst>
              <a:gd name="adj" fmla="val 6000"/>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43000" y="2971800"/>
            <a:ext cx="3886200" cy="283464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43000" y="2971800"/>
            <a:ext cx="3886200" cy="182880"/>
          </a:xfrm>
          <a:prstGeom prst="rect">
            <a:avLst/>
          </a:prstGeom>
          <a:solidFill>
            <a:srgbClr val="E7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71016" y="3003804"/>
            <a:ext cx="3630168" cy="109728"/>
          </a:xfrm>
          <a:prstGeom prst="rect">
            <a:avLst/>
          </a:prstGeom>
          <a:noFill/>
        </p:spPr>
        <p:txBody>
          <a:bodyPr wrap="square" lIns="0" rIns="0" tIns="0" bIns="0">
            <a:spAutoFit/>
          </a:bodyPr>
          <a:lstStyle/>
          <a:p>
            <a:pPr>
              <a:lnSpc>
                <a:spcPct val="128000"/>
              </a:lnSpc>
              <a:spcAft>
                <a:spcPts val="400"/>
              </a:spcAft>
              <a:defRPr sz="650" b="0">
                <a:solidFill>
                  <a:srgbClr val="75816F"/>
                </a:solidFill>
                <a:latin typeface="Arial"/>
              </a:defRPr>
            </a:pPr>
            <a:r>
              <a:t>Cuvée · aperçu de la maquette</a:t>
            </a:r>
          </a:p>
        </p:txBody>
      </p:sp>
      <p:pic>
        <p:nvPicPr>
          <p:cNvPr id="9" name="Picture 8" descr="invoice.png"/>
          <p:cNvPicPr>
            <a:picLocks noChangeAspect="1"/>
          </p:cNvPicPr>
          <p:nvPr/>
        </p:nvPicPr>
        <p:blipFill>
          <a:blip r:embed="rId2"/>
          <a:stretch>
            <a:fillRect/>
          </a:stretch>
        </p:blipFill>
        <p:spPr>
          <a:xfrm>
            <a:off x="1755100" y="3154680"/>
            <a:ext cx="2661998" cy="2651760"/>
          </a:xfrm>
          <a:prstGeom prst="rect">
            <a:avLst/>
          </a:prstGeom>
        </p:spPr>
      </p:pic>
      <p:sp>
        <p:nvSpPr>
          <p:cNvPr id="10" name="TextBox 9"/>
          <p:cNvSpPr txBox="1"/>
          <p:nvPr/>
        </p:nvSpPr>
        <p:spPr>
          <a:xfrm>
            <a:off x="5989320" y="2971800"/>
            <a:ext cx="5029200" cy="274320"/>
          </a:xfrm>
          <a:prstGeom prst="rect">
            <a:avLst/>
          </a:prstGeom>
          <a:noFill/>
        </p:spPr>
        <p:txBody>
          <a:bodyPr wrap="square" lIns="0" rIns="0" tIns="0" bIns="0">
            <a:spAutoFit/>
          </a:bodyPr>
          <a:lstStyle/>
          <a:p>
            <a:pPr>
              <a:lnSpc>
                <a:spcPct val="112000"/>
              </a:lnSpc>
              <a:spcAft>
                <a:spcPts val="400"/>
              </a:spcAft>
              <a:defRPr sz="1700" b="0">
                <a:solidFill>
                  <a:srgbClr val="203E32"/>
                </a:solidFill>
                <a:latin typeface="Georgia"/>
              </a:defRPr>
            </a:pPr>
            <a:r>
              <a:t>Le bon document</a:t>
            </a:r>
          </a:p>
        </p:txBody>
      </p:sp>
      <p:sp>
        <p:nvSpPr>
          <p:cNvPr id="11" name="TextBox 10"/>
          <p:cNvSpPr txBox="1"/>
          <p:nvPr/>
        </p:nvSpPr>
        <p:spPr>
          <a:xfrm>
            <a:off x="5989320" y="3310128"/>
            <a:ext cx="5029200" cy="566928"/>
          </a:xfrm>
          <a:prstGeom prst="rect">
            <a:avLst/>
          </a:prstGeom>
          <a:noFill/>
        </p:spPr>
        <p:txBody>
          <a:bodyPr wrap="square" lIns="0" rIns="0" tIns="0" bIns="0">
            <a:spAutoFit/>
          </a:bodyPr>
          <a:lstStyle/>
          <a:p>
            <a:pPr>
              <a:lnSpc>
                <a:spcPct val="128000"/>
              </a:lnSpc>
              <a:spcAft>
                <a:spcPts val="400"/>
              </a:spcAft>
              <a:defRPr sz="1150" b="0">
                <a:solidFill>
                  <a:srgbClr val="75816F"/>
                </a:solidFill>
                <a:latin typeface="Arial"/>
              </a:defRPr>
            </a:pPr>
            <a:r>
              <a:t>Créer une facture fictive depuis une commande livrée.</a:t>
            </a:r>
          </a:p>
        </p:txBody>
      </p:sp>
      <p:sp>
        <p:nvSpPr>
          <p:cNvPr id="12" name="TextBox 11"/>
          <p:cNvSpPr txBox="1"/>
          <p:nvPr/>
        </p:nvSpPr>
        <p:spPr>
          <a:xfrm>
            <a:off x="5989320" y="3931920"/>
            <a:ext cx="5029200" cy="274320"/>
          </a:xfrm>
          <a:prstGeom prst="rect">
            <a:avLst/>
          </a:prstGeom>
          <a:noFill/>
        </p:spPr>
        <p:txBody>
          <a:bodyPr wrap="square" lIns="0" rIns="0" tIns="0" bIns="0">
            <a:spAutoFit/>
          </a:bodyPr>
          <a:lstStyle/>
          <a:p>
            <a:pPr>
              <a:lnSpc>
                <a:spcPct val="112000"/>
              </a:lnSpc>
              <a:spcAft>
                <a:spcPts val="400"/>
              </a:spcAft>
              <a:defRPr sz="1700" b="0">
                <a:solidFill>
                  <a:srgbClr val="203E32"/>
                </a:solidFill>
                <a:latin typeface="Georgia"/>
              </a:defRPr>
            </a:pPr>
            <a:r>
              <a:t>La bonne priorité</a:t>
            </a:r>
          </a:p>
        </p:txBody>
      </p:sp>
      <p:sp>
        <p:nvSpPr>
          <p:cNvPr id="13" name="TextBox 12"/>
          <p:cNvSpPr txBox="1"/>
          <p:nvPr/>
        </p:nvSpPr>
        <p:spPr>
          <a:xfrm>
            <a:off x="5989320" y="4270248"/>
            <a:ext cx="5029200" cy="566928"/>
          </a:xfrm>
          <a:prstGeom prst="rect">
            <a:avLst/>
          </a:prstGeom>
          <a:noFill/>
        </p:spPr>
        <p:txBody>
          <a:bodyPr wrap="square" lIns="0" rIns="0" tIns="0" bIns="0">
            <a:spAutoFit/>
          </a:bodyPr>
          <a:lstStyle/>
          <a:p>
            <a:pPr>
              <a:lnSpc>
                <a:spcPct val="128000"/>
              </a:lnSpc>
              <a:spcAft>
                <a:spcPts val="400"/>
              </a:spcAft>
              <a:defRPr sz="1150" b="0">
                <a:solidFill>
                  <a:srgbClr val="75816F"/>
                </a:solidFill>
                <a:latin typeface="Arial"/>
              </a:defRPr>
            </a:pPr>
            <a:r>
              <a:t>Filtrer les factures en attente, en retard ou réglées.</a:t>
            </a:r>
          </a:p>
        </p:txBody>
      </p:sp>
      <p:sp>
        <p:nvSpPr>
          <p:cNvPr id="14" name="TextBox 13"/>
          <p:cNvSpPr txBox="1"/>
          <p:nvPr/>
        </p:nvSpPr>
        <p:spPr>
          <a:xfrm>
            <a:off x="5989320" y="4892040"/>
            <a:ext cx="5029200" cy="274320"/>
          </a:xfrm>
          <a:prstGeom prst="rect">
            <a:avLst/>
          </a:prstGeom>
          <a:noFill/>
        </p:spPr>
        <p:txBody>
          <a:bodyPr wrap="square" lIns="0" rIns="0" tIns="0" bIns="0">
            <a:spAutoFit/>
          </a:bodyPr>
          <a:lstStyle/>
          <a:p>
            <a:pPr>
              <a:lnSpc>
                <a:spcPct val="112000"/>
              </a:lnSpc>
              <a:spcAft>
                <a:spcPts val="400"/>
              </a:spcAft>
              <a:defRPr sz="1700" b="0">
                <a:solidFill>
                  <a:srgbClr val="203E32"/>
                </a:solidFill>
                <a:latin typeface="Georgia"/>
              </a:defRPr>
            </a:pPr>
            <a:r>
              <a:t>Une information accessible</a:t>
            </a:r>
          </a:p>
        </p:txBody>
      </p:sp>
      <p:sp>
        <p:nvSpPr>
          <p:cNvPr id="15" name="TextBox 14"/>
          <p:cNvSpPr txBox="1"/>
          <p:nvPr/>
        </p:nvSpPr>
        <p:spPr>
          <a:xfrm>
            <a:off x="5989320" y="5230368"/>
            <a:ext cx="5029200" cy="566928"/>
          </a:xfrm>
          <a:prstGeom prst="rect">
            <a:avLst/>
          </a:prstGeom>
          <a:noFill/>
        </p:spPr>
        <p:txBody>
          <a:bodyPr wrap="square" lIns="0" rIns="0" tIns="0" bIns="0">
            <a:spAutoFit/>
          </a:bodyPr>
          <a:lstStyle/>
          <a:p>
            <a:pPr>
              <a:lnSpc>
                <a:spcPct val="128000"/>
              </a:lnSpc>
              <a:spcAft>
                <a:spcPts val="400"/>
              </a:spcAft>
              <a:defRPr sz="1150" b="0">
                <a:solidFill>
                  <a:srgbClr val="75816F"/>
                </a:solidFill>
                <a:latin typeface="Arial"/>
              </a:defRPr>
            </a:pPr>
            <a:r>
              <a:t>Consulter un aperçu et enregistrer un règlement de démonstration.</a:t>
            </a:r>
          </a:p>
        </p:txBody>
      </p:sp>
      <p:sp>
        <p:nvSpPr>
          <p:cNvPr id="16" name="TextBox 15"/>
          <p:cNvSpPr txBox="1"/>
          <p:nvPr/>
        </p:nvSpPr>
        <p:spPr>
          <a:xfrm>
            <a:off x="640080" y="5980176"/>
            <a:ext cx="10908792" cy="256032"/>
          </a:xfrm>
          <a:prstGeom prst="rect">
            <a:avLst/>
          </a:prstGeom>
          <a:noFill/>
        </p:spPr>
        <p:txBody>
          <a:bodyPr wrap="square" lIns="0" rIns="0" tIns="0" bIns="0">
            <a:spAutoFit/>
          </a:bodyPr>
          <a:lstStyle/>
          <a:p>
            <a:pPr>
              <a:lnSpc>
                <a:spcPct val="128000"/>
              </a:lnSpc>
              <a:spcAft>
                <a:spcPts val="400"/>
              </a:spcAft>
              <a:defRPr sz="900" b="0">
                <a:solidFill>
                  <a:srgbClr val="75816F"/>
                </a:solidFill>
                <a:latin typeface="Arial"/>
              </a:defRPr>
            </a:pPr>
            <a:r>
              <a:t>Montants indicatifs : TVA non calculée, aucun paiement réel ni QR de paiement.</a:t>
            </a:r>
          </a:p>
        </p:txBody>
      </p:sp>
      <p:sp>
        <p:nvSpPr>
          <p:cNvPr id="17" name="Rectangle 16"/>
          <p:cNvSpPr/>
          <p:nvPr/>
        </p:nvSpPr>
        <p:spPr>
          <a:xfrm>
            <a:off x="640080" y="6391656"/>
            <a:ext cx="10908792" cy="7315"/>
          </a:xfrm>
          <a:prstGeom prst="rect">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492240"/>
            <a:ext cx="91440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Cuvée · présentation de projet</a:t>
            </a:r>
          </a:p>
        </p:txBody>
      </p:sp>
      <p:sp>
        <p:nvSpPr>
          <p:cNvPr id="19" name="TextBox 18"/>
          <p:cNvSpPr txBox="1"/>
          <p:nvPr/>
        </p:nvSpPr>
        <p:spPr>
          <a:xfrm>
            <a:off x="10881360" y="6492240"/>
            <a:ext cx="6858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40080" y="502920"/>
            <a:ext cx="10972800" cy="201168"/>
          </a:xfrm>
          <a:prstGeom prst="rect">
            <a:avLst/>
          </a:prstGeom>
          <a:noFill/>
        </p:spPr>
        <p:txBody>
          <a:bodyPr wrap="square" lIns="0" rIns="0" tIns="0" bIns="0">
            <a:spAutoFit/>
          </a:bodyPr>
          <a:lstStyle/>
          <a:p>
            <a:pPr>
              <a:lnSpc>
                <a:spcPct val="128000"/>
              </a:lnSpc>
              <a:spcAft>
                <a:spcPts val="400"/>
              </a:spcAft>
              <a:defRPr sz="1000" b="1">
                <a:solidFill>
                  <a:srgbClr val="B99967"/>
                </a:solidFill>
                <a:latin typeface="Arial"/>
              </a:defRPr>
            </a:pPr>
            <a:r>
              <a:t>LA VALEUR POUR VOTRE DOMAINE</a:t>
            </a:r>
          </a:p>
        </p:txBody>
      </p:sp>
      <p:sp>
        <p:nvSpPr>
          <p:cNvPr id="3" name="TextBox 2"/>
          <p:cNvSpPr txBox="1"/>
          <p:nvPr/>
        </p:nvSpPr>
        <p:spPr>
          <a:xfrm>
            <a:off x="640080" y="914400"/>
            <a:ext cx="10881360" cy="1280160"/>
          </a:xfrm>
          <a:prstGeom prst="rect">
            <a:avLst/>
          </a:prstGeom>
          <a:noFill/>
        </p:spPr>
        <p:txBody>
          <a:bodyPr wrap="square" lIns="0" rIns="0" tIns="0" bIns="0">
            <a:spAutoFit/>
          </a:bodyPr>
          <a:lstStyle/>
          <a:p>
            <a:pPr>
              <a:lnSpc>
                <a:spcPct val="112000"/>
              </a:lnSpc>
              <a:spcAft>
                <a:spcPts val="400"/>
              </a:spcAft>
              <a:defRPr sz="3200" b="0">
                <a:solidFill>
                  <a:srgbClr val="203E32"/>
                </a:solidFill>
                <a:latin typeface="Georgia"/>
              </a:defRPr>
            </a:pPr>
            <a:r>
              <a:t>Des bénéfices concrets.</a:t>
            </a:r>
          </a:p>
          <a:p>
            <a:pPr>
              <a:lnSpc>
                <a:spcPct val="112000"/>
              </a:lnSpc>
              <a:spcAft>
                <a:spcPts val="400"/>
              </a:spcAft>
              <a:defRPr sz="3200" b="0">
                <a:solidFill>
                  <a:srgbClr val="203E32"/>
                </a:solidFill>
                <a:latin typeface="Georgia"/>
              </a:defRPr>
            </a:pPr>
            <a:r>
              <a:t>Des preuves à construire.</a:t>
            </a:r>
          </a:p>
        </p:txBody>
      </p:sp>
      <p:sp>
        <p:nvSpPr>
          <p:cNvPr id="4" name="TextBox 3"/>
          <p:cNvSpPr txBox="1"/>
          <p:nvPr/>
        </p:nvSpPr>
        <p:spPr>
          <a:xfrm>
            <a:off x="640080" y="2258568"/>
            <a:ext cx="10881360" cy="548640"/>
          </a:xfrm>
          <a:prstGeom prst="rect">
            <a:avLst/>
          </a:prstGeom>
          <a:noFill/>
        </p:spPr>
        <p:txBody>
          <a:bodyPr wrap="square" lIns="0" rIns="0" tIns="0" bIns="0">
            <a:spAutoFit/>
          </a:bodyPr>
          <a:lstStyle/>
          <a:p>
            <a:pPr>
              <a:lnSpc>
                <a:spcPct val="128000"/>
              </a:lnSpc>
              <a:spcAft>
                <a:spcPts val="400"/>
              </a:spcAft>
              <a:defRPr sz="1300" b="0">
                <a:solidFill>
                  <a:srgbClr val="75816F"/>
                </a:solidFill>
                <a:latin typeface="Arial"/>
              </a:defRPr>
            </a:pPr>
            <a:r>
              <a:t>Valider les choix sur vos tâches réelles avant de promettre un résultat.</a:t>
            </a:r>
          </a:p>
        </p:txBody>
      </p:sp>
      <p:sp>
        <p:nvSpPr>
          <p:cNvPr id="5" name="Rounded Rectangle 4"/>
          <p:cNvSpPr/>
          <p:nvPr/>
        </p:nvSpPr>
        <p:spPr>
          <a:xfrm>
            <a:off x="640080" y="3063240"/>
            <a:ext cx="2603754" cy="283464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3246120"/>
            <a:ext cx="2237994" cy="365760"/>
          </a:xfrm>
          <a:prstGeom prst="rect">
            <a:avLst/>
          </a:prstGeom>
          <a:noFill/>
        </p:spPr>
        <p:txBody>
          <a:bodyPr wrap="square" lIns="0" rIns="0" tIns="0" bIns="0">
            <a:spAutoFit/>
          </a:bodyPr>
          <a:lstStyle/>
          <a:p>
            <a:pPr>
              <a:lnSpc>
                <a:spcPct val="128000"/>
              </a:lnSpc>
              <a:spcAft>
                <a:spcPts val="400"/>
              </a:spcAft>
              <a:defRPr sz="1200" b="0">
                <a:solidFill>
                  <a:srgbClr val="B99967"/>
                </a:solidFill>
                <a:latin typeface="Arial"/>
              </a:defRPr>
            </a:pPr>
            <a:r>
              <a:t>01</a:t>
            </a:r>
          </a:p>
        </p:txBody>
      </p:sp>
      <p:sp>
        <p:nvSpPr>
          <p:cNvPr id="7" name="TextBox 6"/>
          <p:cNvSpPr txBox="1"/>
          <p:nvPr/>
        </p:nvSpPr>
        <p:spPr>
          <a:xfrm>
            <a:off x="822959" y="3749039"/>
            <a:ext cx="2237994" cy="731520"/>
          </a:xfrm>
          <a:prstGeom prst="rect">
            <a:avLst/>
          </a:prstGeom>
          <a:noFill/>
        </p:spPr>
        <p:txBody>
          <a:bodyPr wrap="square" lIns="0" rIns="0" tIns="0" bIns="0">
            <a:spAutoFit/>
          </a:bodyPr>
          <a:lstStyle/>
          <a:p>
            <a:pPr>
              <a:lnSpc>
                <a:spcPct val="112000"/>
              </a:lnSpc>
              <a:spcAft>
                <a:spcPts val="400"/>
              </a:spcAft>
              <a:defRPr sz="1900" b="0">
                <a:solidFill>
                  <a:srgbClr val="203E32"/>
                </a:solidFill>
                <a:latin typeface="Georgia"/>
              </a:defRPr>
            </a:pPr>
            <a:r>
              <a:t>Moins de recherche</a:t>
            </a:r>
          </a:p>
        </p:txBody>
      </p:sp>
      <p:sp>
        <p:nvSpPr>
          <p:cNvPr id="8" name="TextBox 7"/>
          <p:cNvSpPr txBox="1"/>
          <p:nvPr/>
        </p:nvSpPr>
        <p:spPr>
          <a:xfrm>
            <a:off x="822959" y="4526280"/>
            <a:ext cx="2237994" cy="749808"/>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Objectif : retrouver plus vite un client, un document ou une disponibilité.</a:t>
            </a:r>
          </a:p>
        </p:txBody>
      </p:sp>
      <p:sp>
        <p:nvSpPr>
          <p:cNvPr id="9" name="TextBox 8"/>
          <p:cNvSpPr txBox="1"/>
          <p:nvPr/>
        </p:nvSpPr>
        <p:spPr>
          <a:xfrm>
            <a:off x="822959" y="5349240"/>
            <a:ext cx="2237994" cy="457200"/>
          </a:xfrm>
          <a:prstGeom prst="rect">
            <a:avLst/>
          </a:prstGeom>
          <a:noFill/>
        </p:spPr>
        <p:txBody>
          <a:bodyPr wrap="square" lIns="0" rIns="0" tIns="0" bIns="0">
            <a:spAutoFit/>
          </a:bodyPr>
          <a:lstStyle/>
          <a:p>
            <a:pPr>
              <a:lnSpc>
                <a:spcPct val="128000"/>
              </a:lnSpc>
              <a:spcAft>
                <a:spcPts val="400"/>
              </a:spcAft>
              <a:defRPr sz="900" b="0">
                <a:solidFill>
                  <a:srgbClr val="75816F"/>
                </a:solidFill>
                <a:latin typeface="Arial"/>
              </a:defRPr>
            </a:pPr>
            <a:r>
              <a:t>À mesurer : le temps nécessaire pour retrouver une information.</a:t>
            </a:r>
          </a:p>
        </p:txBody>
      </p:sp>
      <p:sp>
        <p:nvSpPr>
          <p:cNvPr id="10" name="Rounded Rectangle 9"/>
          <p:cNvSpPr/>
          <p:nvPr/>
        </p:nvSpPr>
        <p:spPr>
          <a:xfrm>
            <a:off x="3408426" y="3063240"/>
            <a:ext cx="2603754" cy="283464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1306" y="3246120"/>
            <a:ext cx="2237994" cy="365760"/>
          </a:xfrm>
          <a:prstGeom prst="rect">
            <a:avLst/>
          </a:prstGeom>
          <a:noFill/>
        </p:spPr>
        <p:txBody>
          <a:bodyPr wrap="square" lIns="0" rIns="0" tIns="0" bIns="0">
            <a:spAutoFit/>
          </a:bodyPr>
          <a:lstStyle/>
          <a:p>
            <a:pPr>
              <a:lnSpc>
                <a:spcPct val="128000"/>
              </a:lnSpc>
              <a:spcAft>
                <a:spcPts val="400"/>
              </a:spcAft>
              <a:defRPr sz="1200" b="0">
                <a:solidFill>
                  <a:srgbClr val="B99967"/>
                </a:solidFill>
                <a:latin typeface="Arial"/>
              </a:defRPr>
            </a:pPr>
            <a:r>
              <a:t>02</a:t>
            </a:r>
          </a:p>
        </p:txBody>
      </p:sp>
      <p:sp>
        <p:nvSpPr>
          <p:cNvPr id="12" name="TextBox 11"/>
          <p:cNvSpPr txBox="1"/>
          <p:nvPr/>
        </p:nvSpPr>
        <p:spPr>
          <a:xfrm>
            <a:off x="3591306" y="3749039"/>
            <a:ext cx="2237994" cy="731520"/>
          </a:xfrm>
          <a:prstGeom prst="rect">
            <a:avLst/>
          </a:prstGeom>
          <a:noFill/>
        </p:spPr>
        <p:txBody>
          <a:bodyPr wrap="square" lIns="0" rIns="0" tIns="0" bIns="0">
            <a:spAutoFit/>
          </a:bodyPr>
          <a:lstStyle/>
          <a:p>
            <a:pPr>
              <a:lnSpc>
                <a:spcPct val="112000"/>
              </a:lnSpc>
              <a:spcAft>
                <a:spcPts val="400"/>
              </a:spcAft>
              <a:defRPr sz="1900" b="0">
                <a:solidFill>
                  <a:srgbClr val="203E32"/>
                </a:solidFill>
                <a:latin typeface="Georgia"/>
              </a:defRPr>
            </a:pPr>
            <a:r>
              <a:t>Plus de continuité</a:t>
            </a:r>
          </a:p>
        </p:txBody>
      </p:sp>
      <p:sp>
        <p:nvSpPr>
          <p:cNvPr id="13" name="TextBox 12"/>
          <p:cNvSpPr txBox="1"/>
          <p:nvPr/>
        </p:nvSpPr>
        <p:spPr>
          <a:xfrm>
            <a:off x="3591306" y="4526280"/>
            <a:ext cx="2237994" cy="749808"/>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Objectif : avancer d’une commande à la livraison sans perdre le contexte.</a:t>
            </a:r>
          </a:p>
        </p:txBody>
      </p:sp>
      <p:sp>
        <p:nvSpPr>
          <p:cNvPr id="14" name="TextBox 13"/>
          <p:cNvSpPr txBox="1"/>
          <p:nvPr/>
        </p:nvSpPr>
        <p:spPr>
          <a:xfrm>
            <a:off x="3591306" y="5349240"/>
            <a:ext cx="2237994" cy="457200"/>
          </a:xfrm>
          <a:prstGeom prst="rect">
            <a:avLst/>
          </a:prstGeom>
          <a:noFill/>
        </p:spPr>
        <p:txBody>
          <a:bodyPr wrap="square" lIns="0" rIns="0" tIns="0" bIns="0">
            <a:spAutoFit/>
          </a:bodyPr>
          <a:lstStyle/>
          <a:p>
            <a:pPr>
              <a:lnSpc>
                <a:spcPct val="128000"/>
              </a:lnSpc>
              <a:spcAft>
                <a:spcPts val="400"/>
              </a:spcAft>
              <a:defRPr sz="900" b="0">
                <a:solidFill>
                  <a:srgbClr val="75816F"/>
                </a:solidFill>
                <a:latin typeface="Arial"/>
              </a:defRPr>
            </a:pPr>
            <a:r>
              <a:t>À mesurer : les étapes et les ressaisies d’un parcours.</a:t>
            </a:r>
          </a:p>
        </p:txBody>
      </p:sp>
      <p:sp>
        <p:nvSpPr>
          <p:cNvPr id="15" name="Rounded Rectangle 14"/>
          <p:cNvSpPr/>
          <p:nvPr/>
        </p:nvSpPr>
        <p:spPr>
          <a:xfrm>
            <a:off x="6176772" y="3063240"/>
            <a:ext cx="2603754" cy="283464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9652" y="3246120"/>
            <a:ext cx="2237994" cy="365760"/>
          </a:xfrm>
          <a:prstGeom prst="rect">
            <a:avLst/>
          </a:prstGeom>
          <a:noFill/>
        </p:spPr>
        <p:txBody>
          <a:bodyPr wrap="square" lIns="0" rIns="0" tIns="0" bIns="0">
            <a:spAutoFit/>
          </a:bodyPr>
          <a:lstStyle/>
          <a:p>
            <a:pPr>
              <a:lnSpc>
                <a:spcPct val="128000"/>
              </a:lnSpc>
              <a:spcAft>
                <a:spcPts val="400"/>
              </a:spcAft>
              <a:defRPr sz="1200" b="0">
                <a:solidFill>
                  <a:srgbClr val="B99967"/>
                </a:solidFill>
                <a:latin typeface="Arial"/>
              </a:defRPr>
            </a:pPr>
            <a:r>
              <a:t>03</a:t>
            </a:r>
          </a:p>
        </p:txBody>
      </p:sp>
      <p:sp>
        <p:nvSpPr>
          <p:cNvPr id="17" name="TextBox 16"/>
          <p:cNvSpPr txBox="1"/>
          <p:nvPr/>
        </p:nvSpPr>
        <p:spPr>
          <a:xfrm>
            <a:off x="6359652" y="3749039"/>
            <a:ext cx="2237994" cy="731520"/>
          </a:xfrm>
          <a:prstGeom prst="rect">
            <a:avLst/>
          </a:prstGeom>
          <a:noFill/>
        </p:spPr>
        <p:txBody>
          <a:bodyPr wrap="square" lIns="0" rIns="0" tIns="0" bIns="0">
            <a:spAutoFit/>
          </a:bodyPr>
          <a:lstStyle/>
          <a:p>
            <a:pPr>
              <a:lnSpc>
                <a:spcPct val="112000"/>
              </a:lnSpc>
              <a:spcAft>
                <a:spcPts val="400"/>
              </a:spcAft>
              <a:defRPr sz="1900" b="0">
                <a:solidFill>
                  <a:srgbClr val="203E32"/>
                </a:solidFill>
                <a:latin typeface="Georgia"/>
              </a:defRPr>
            </a:pPr>
            <a:r>
              <a:t>Une lecture plus simple</a:t>
            </a:r>
          </a:p>
        </p:txBody>
      </p:sp>
      <p:sp>
        <p:nvSpPr>
          <p:cNvPr id="18" name="TextBox 17"/>
          <p:cNvSpPr txBox="1"/>
          <p:nvPr/>
        </p:nvSpPr>
        <p:spPr>
          <a:xfrm>
            <a:off x="6359652" y="4526280"/>
            <a:ext cx="2237994" cy="749808"/>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Objectif : repérer les priorités de vente, de stock et de règlement.</a:t>
            </a:r>
          </a:p>
        </p:txBody>
      </p:sp>
      <p:sp>
        <p:nvSpPr>
          <p:cNvPr id="19" name="TextBox 18"/>
          <p:cNvSpPr txBox="1"/>
          <p:nvPr/>
        </p:nvSpPr>
        <p:spPr>
          <a:xfrm>
            <a:off x="6359652" y="5349240"/>
            <a:ext cx="2237994" cy="457200"/>
          </a:xfrm>
          <a:prstGeom prst="rect">
            <a:avLst/>
          </a:prstGeom>
          <a:noFill/>
        </p:spPr>
        <p:txBody>
          <a:bodyPr wrap="square" lIns="0" rIns="0" tIns="0" bIns="0">
            <a:spAutoFit/>
          </a:bodyPr>
          <a:lstStyle/>
          <a:p>
            <a:pPr>
              <a:lnSpc>
                <a:spcPct val="128000"/>
              </a:lnSpc>
              <a:spcAft>
                <a:spcPts val="400"/>
              </a:spcAft>
              <a:defRPr sz="900" b="0">
                <a:solidFill>
                  <a:srgbClr val="75816F"/>
                </a:solidFill>
                <a:latin typeface="Arial"/>
              </a:defRPr>
            </a:pPr>
            <a:r>
              <a:t>À mesurer : le temps pour identifier les actions du jour.</a:t>
            </a:r>
          </a:p>
        </p:txBody>
      </p:sp>
      <p:sp>
        <p:nvSpPr>
          <p:cNvPr id="20" name="Rounded Rectangle 19"/>
          <p:cNvSpPr/>
          <p:nvPr/>
        </p:nvSpPr>
        <p:spPr>
          <a:xfrm>
            <a:off x="8945118" y="3063240"/>
            <a:ext cx="2603754" cy="283464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7998" y="3246120"/>
            <a:ext cx="2237994" cy="365760"/>
          </a:xfrm>
          <a:prstGeom prst="rect">
            <a:avLst/>
          </a:prstGeom>
          <a:noFill/>
        </p:spPr>
        <p:txBody>
          <a:bodyPr wrap="square" lIns="0" rIns="0" tIns="0" bIns="0">
            <a:spAutoFit/>
          </a:bodyPr>
          <a:lstStyle/>
          <a:p>
            <a:pPr>
              <a:lnSpc>
                <a:spcPct val="128000"/>
              </a:lnSpc>
              <a:spcAft>
                <a:spcPts val="400"/>
              </a:spcAft>
              <a:defRPr sz="1200" b="0">
                <a:solidFill>
                  <a:srgbClr val="B99967"/>
                </a:solidFill>
                <a:latin typeface="Arial"/>
              </a:defRPr>
            </a:pPr>
            <a:r>
              <a:t>04</a:t>
            </a:r>
          </a:p>
        </p:txBody>
      </p:sp>
      <p:sp>
        <p:nvSpPr>
          <p:cNvPr id="22" name="TextBox 21"/>
          <p:cNvSpPr txBox="1"/>
          <p:nvPr/>
        </p:nvSpPr>
        <p:spPr>
          <a:xfrm>
            <a:off x="9127998" y="3749039"/>
            <a:ext cx="2237994" cy="731520"/>
          </a:xfrm>
          <a:prstGeom prst="rect">
            <a:avLst/>
          </a:prstGeom>
          <a:noFill/>
        </p:spPr>
        <p:txBody>
          <a:bodyPr wrap="square" lIns="0" rIns="0" tIns="0" bIns="0">
            <a:spAutoFit/>
          </a:bodyPr>
          <a:lstStyle/>
          <a:p>
            <a:pPr>
              <a:lnSpc>
                <a:spcPct val="112000"/>
              </a:lnSpc>
              <a:spcAft>
                <a:spcPts val="400"/>
              </a:spcAft>
              <a:defRPr sz="1900" b="0">
                <a:solidFill>
                  <a:srgbClr val="203E32"/>
                </a:solidFill>
                <a:latin typeface="Georgia"/>
              </a:defRPr>
            </a:pPr>
            <a:r>
              <a:t>Une prise en main naturelle</a:t>
            </a:r>
          </a:p>
        </p:txBody>
      </p:sp>
      <p:sp>
        <p:nvSpPr>
          <p:cNvPr id="23" name="TextBox 22"/>
          <p:cNvSpPr txBox="1"/>
          <p:nvPr/>
        </p:nvSpPr>
        <p:spPr>
          <a:xfrm>
            <a:off x="9127998" y="4526280"/>
            <a:ext cx="2237994" cy="749808"/>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Objectif : proposer des écrans adaptés aux utilisateurs et à leurs appareils.</a:t>
            </a:r>
          </a:p>
        </p:txBody>
      </p:sp>
      <p:sp>
        <p:nvSpPr>
          <p:cNvPr id="24" name="TextBox 23"/>
          <p:cNvSpPr txBox="1"/>
          <p:nvPr/>
        </p:nvSpPr>
        <p:spPr>
          <a:xfrm>
            <a:off x="9127998" y="5349240"/>
            <a:ext cx="2237994" cy="457200"/>
          </a:xfrm>
          <a:prstGeom prst="rect">
            <a:avLst/>
          </a:prstGeom>
          <a:noFill/>
        </p:spPr>
        <p:txBody>
          <a:bodyPr wrap="square" lIns="0" rIns="0" tIns="0" bIns="0">
            <a:spAutoFit/>
          </a:bodyPr>
          <a:lstStyle/>
          <a:p>
            <a:pPr>
              <a:lnSpc>
                <a:spcPct val="128000"/>
              </a:lnSpc>
              <a:spcAft>
                <a:spcPts val="400"/>
              </a:spcAft>
              <a:defRPr sz="900" b="0">
                <a:solidFill>
                  <a:srgbClr val="75816F"/>
                </a:solidFill>
                <a:latin typeface="Arial"/>
              </a:defRPr>
            </a:pPr>
            <a:r>
              <a:t>À mesurer : la réussite des tâches pendant un essai utilisateur.</a:t>
            </a:r>
          </a:p>
        </p:txBody>
      </p:sp>
      <p:sp>
        <p:nvSpPr>
          <p:cNvPr id="25" name="Rectangle 24"/>
          <p:cNvSpPr/>
          <p:nvPr/>
        </p:nvSpPr>
        <p:spPr>
          <a:xfrm>
            <a:off x="640080" y="6391656"/>
            <a:ext cx="10908792" cy="7315"/>
          </a:xfrm>
          <a:prstGeom prst="rect">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92240"/>
            <a:ext cx="91440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Cuvée · présentation de projet</a:t>
            </a:r>
          </a:p>
        </p:txBody>
      </p:sp>
      <p:sp>
        <p:nvSpPr>
          <p:cNvPr id="27" name="TextBox 26"/>
          <p:cNvSpPr txBox="1"/>
          <p:nvPr/>
        </p:nvSpPr>
        <p:spPr>
          <a:xfrm>
            <a:off x="10881360" y="6492240"/>
            <a:ext cx="6858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40080" y="502920"/>
            <a:ext cx="10972800" cy="201168"/>
          </a:xfrm>
          <a:prstGeom prst="rect">
            <a:avLst/>
          </a:prstGeom>
          <a:noFill/>
        </p:spPr>
        <p:txBody>
          <a:bodyPr wrap="square" lIns="0" rIns="0" tIns="0" bIns="0">
            <a:spAutoFit/>
          </a:bodyPr>
          <a:lstStyle/>
          <a:p>
            <a:pPr>
              <a:lnSpc>
                <a:spcPct val="128000"/>
              </a:lnSpc>
              <a:spcAft>
                <a:spcPts val="400"/>
              </a:spcAft>
              <a:defRPr sz="1000" b="1">
                <a:solidFill>
                  <a:srgbClr val="B99967"/>
                </a:solidFill>
                <a:latin typeface="Arial"/>
              </a:defRPr>
            </a:pPr>
            <a:r>
              <a:t>UNE AMBITION RÉALISTE</a:t>
            </a:r>
          </a:p>
        </p:txBody>
      </p:sp>
      <p:sp>
        <p:nvSpPr>
          <p:cNvPr id="3" name="TextBox 2"/>
          <p:cNvSpPr txBox="1"/>
          <p:nvPr/>
        </p:nvSpPr>
        <p:spPr>
          <a:xfrm>
            <a:off x="640080" y="914400"/>
            <a:ext cx="10881360" cy="1280160"/>
          </a:xfrm>
          <a:prstGeom prst="rect">
            <a:avLst/>
          </a:prstGeom>
          <a:noFill/>
        </p:spPr>
        <p:txBody>
          <a:bodyPr wrap="square" lIns="0" rIns="0" tIns="0" bIns="0">
            <a:spAutoFit/>
          </a:bodyPr>
          <a:lstStyle/>
          <a:p>
            <a:pPr>
              <a:lnSpc>
                <a:spcPct val="112000"/>
              </a:lnSpc>
              <a:spcAft>
                <a:spcPts val="400"/>
              </a:spcAft>
              <a:defRPr sz="3200" b="0">
                <a:solidFill>
                  <a:srgbClr val="203E32"/>
                </a:solidFill>
                <a:latin typeface="Georgia"/>
              </a:defRPr>
            </a:pPr>
            <a:r>
              <a:t>Préserver le métier.</a:t>
            </a:r>
          </a:p>
          <a:p>
            <a:pPr>
              <a:lnSpc>
                <a:spcPct val="112000"/>
              </a:lnSpc>
              <a:spcAft>
                <a:spcPts val="400"/>
              </a:spcAft>
              <a:defRPr sz="3200" b="0">
                <a:solidFill>
                  <a:srgbClr val="203E32"/>
                </a:solidFill>
                <a:latin typeface="Georgia"/>
              </a:defRPr>
            </a:pPr>
            <a:r>
              <a:t>Préparer un logiciel fiable.</a:t>
            </a:r>
          </a:p>
        </p:txBody>
      </p:sp>
      <p:sp>
        <p:nvSpPr>
          <p:cNvPr id="4" name="TextBox 3"/>
          <p:cNvSpPr txBox="1"/>
          <p:nvPr/>
        </p:nvSpPr>
        <p:spPr>
          <a:xfrm>
            <a:off x="640080" y="2258568"/>
            <a:ext cx="10881360" cy="548640"/>
          </a:xfrm>
          <a:prstGeom prst="rect">
            <a:avLst/>
          </a:prstGeom>
          <a:noFill/>
        </p:spPr>
        <p:txBody>
          <a:bodyPr wrap="square" lIns="0" rIns="0" tIns="0" bIns="0">
            <a:spAutoFit/>
          </a:bodyPr>
          <a:lstStyle/>
          <a:p>
            <a:pPr>
              <a:lnSpc>
                <a:spcPct val="128000"/>
              </a:lnSpc>
              <a:spcAft>
                <a:spcPts val="400"/>
              </a:spcAft>
              <a:defRPr sz="1300" b="0">
                <a:solidFill>
                  <a:srgbClr val="75816F"/>
                </a:solidFill>
                <a:latin typeface="Arial"/>
              </a:defRPr>
            </a:pPr>
            <a:r>
              <a:t>La maquette donne une direction. La prochaine étape doit vérifier les règles, les données et l’exploitation.</a:t>
            </a:r>
          </a:p>
        </p:txBody>
      </p:sp>
      <p:sp>
        <p:nvSpPr>
          <p:cNvPr id="5" name="Rounded Rectangle 4"/>
          <p:cNvSpPr/>
          <p:nvPr/>
        </p:nvSpPr>
        <p:spPr>
          <a:xfrm>
            <a:off x="640080" y="3063240"/>
            <a:ext cx="3526536" cy="283464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3246120"/>
            <a:ext cx="3160776" cy="365760"/>
          </a:xfrm>
          <a:prstGeom prst="rect">
            <a:avLst/>
          </a:prstGeom>
          <a:noFill/>
        </p:spPr>
        <p:txBody>
          <a:bodyPr wrap="square" lIns="0" rIns="0" tIns="0" bIns="0">
            <a:spAutoFit/>
          </a:bodyPr>
          <a:lstStyle/>
          <a:p>
            <a:pPr>
              <a:lnSpc>
                <a:spcPct val="128000"/>
              </a:lnSpc>
              <a:spcAft>
                <a:spcPts val="400"/>
              </a:spcAft>
              <a:defRPr sz="1200" b="0">
                <a:solidFill>
                  <a:srgbClr val="B99967"/>
                </a:solidFill>
                <a:latin typeface="Arial"/>
              </a:defRPr>
            </a:pPr>
            <a:r>
              <a:t>01</a:t>
            </a:r>
          </a:p>
        </p:txBody>
      </p:sp>
      <p:sp>
        <p:nvSpPr>
          <p:cNvPr id="7" name="TextBox 6"/>
          <p:cNvSpPr txBox="1"/>
          <p:nvPr/>
        </p:nvSpPr>
        <p:spPr>
          <a:xfrm>
            <a:off x="822959" y="3749039"/>
            <a:ext cx="3160776" cy="731520"/>
          </a:xfrm>
          <a:prstGeom prst="rect">
            <a:avLst/>
          </a:prstGeom>
          <a:noFill/>
        </p:spPr>
        <p:txBody>
          <a:bodyPr wrap="square" lIns="0" rIns="0" tIns="0" bIns="0">
            <a:spAutoFit/>
          </a:bodyPr>
          <a:lstStyle/>
          <a:p>
            <a:pPr>
              <a:lnSpc>
                <a:spcPct val="112000"/>
              </a:lnSpc>
              <a:spcAft>
                <a:spcPts val="400"/>
              </a:spcAft>
              <a:defRPr sz="2100" b="0">
                <a:solidFill>
                  <a:srgbClr val="203E32"/>
                </a:solidFill>
                <a:latin typeface="Georgia"/>
              </a:defRPr>
            </a:pPr>
            <a:r>
              <a:t>Votre richesse métier</a:t>
            </a:r>
          </a:p>
        </p:txBody>
      </p:sp>
      <p:sp>
        <p:nvSpPr>
          <p:cNvPr id="8" name="TextBox 7"/>
          <p:cNvSpPr txBox="1"/>
          <p:nvPr/>
        </p:nvSpPr>
        <p:spPr>
          <a:xfrm>
            <a:off x="822959" y="4526280"/>
            <a:ext cx="3160776" cy="749808"/>
          </a:xfrm>
          <a:prstGeom prst="rect">
            <a:avLst/>
          </a:prstGeom>
          <a:noFill/>
        </p:spPr>
        <p:txBody>
          <a:bodyPr wrap="square" lIns="0" rIns="0" tIns="0" bIns="0">
            <a:spAutoFit/>
          </a:bodyPr>
          <a:lstStyle/>
          <a:p>
            <a:pPr>
              <a:lnSpc>
                <a:spcPct val="128000"/>
              </a:lnSpc>
              <a:spcAft>
                <a:spcPts val="400"/>
              </a:spcAft>
              <a:defRPr sz="1200" b="0">
                <a:solidFill>
                  <a:srgbClr val="75816F"/>
                </a:solidFill>
                <a:latin typeface="Arial"/>
              </a:defRPr>
            </a:pPr>
            <a:r>
              <a:t>Conserver les fonctions indispensables et confirmer le périmètre : cave, TVA, comptabilité, salaires, échanges bancaires et intégrations.</a:t>
            </a:r>
          </a:p>
        </p:txBody>
      </p:sp>
      <p:sp>
        <p:nvSpPr>
          <p:cNvPr id="9" name="Rounded Rectangle 8"/>
          <p:cNvSpPr/>
          <p:nvPr/>
        </p:nvSpPr>
        <p:spPr>
          <a:xfrm>
            <a:off x="4331208" y="3063240"/>
            <a:ext cx="3526536" cy="283464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14088" y="3246120"/>
            <a:ext cx="3160776" cy="365760"/>
          </a:xfrm>
          <a:prstGeom prst="rect">
            <a:avLst/>
          </a:prstGeom>
          <a:noFill/>
        </p:spPr>
        <p:txBody>
          <a:bodyPr wrap="square" lIns="0" rIns="0" tIns="0" bIns="0">
            <a:spAutoFit/>
          </a:bodyPr>
          <a:lstStyle/>
          <a:p>
            <a:pPr>
              <a:lnSpc>
                <a:spcPct val="128000"/>
              </a:lnSpc>
              <a:spcAft>
                <a:spcPts val="400"/>
              </a:spcAft>
              <a:defRPr sz="1200" b="0">
                <a:solidFill>
                  <a:srgbClr val="B99967"/>
                </a:solidFill>
                <a:latin typeface="Arial"/>
              </a:defRPr>
            </a:pPr>
            <a:r>
              <a:t>02</a:t>
            </a:r>
          </a:p>
        </p:txBody>
      </p:sp>
      <p:sp>
        <p:nvSpPr>
          <p:cNvPr id="11" name="TextBox 10"/>
          <p:cNvSpPr txBox="1"/>
          <p:nvPr/>
        </p:nvSpPr>
        <p:spPr>
          <a:xfrm>
            <a:off x="4514088" y="3749039"/>
            <a:ext cx="3160776" cy="731520"/>
          </a:xfrm>
          <a:prstGeom prst="rect">
            <a:avLst/>
          </a:prstGeom>
          <a:noFill/>
        </p:spPr>
        <p:txBody>
          <a:bodyPr wrap="square" lIns="0" rIns="0" tIns="0" bIns="0">
            <a:spAutoFit/>
          </a:bodyPr>
          <a:lstStyle/>
          <a:p>
            <a:pPr>
              <a:lnSpc>
                <a:spcPct val="112000"/>
              </a:lnSpc>
              <a:spcAft>
                <a:spcPts val="400"/>
              </a:spcAft>
              <a:defRPr sz="2100" b="0">
                <a:solidFill>
                  <a:srgbClr val="203E32"/>
                </a:solidFill>
                <a:latin typeface="Georgia"/>
              </a:defRPr>
            </a:pPr>
            <a:r>
              <a:t>Vos données</a:t>
            </a:r>
          </a:p>
        </p:txBody>
      </p:sp>
      <p:sp>
        <p:nvSpPr>
          <p:cNvPr id="12" name="TextBox 11"/>
          <p:cNvSpPr txBox="1"/>
          <p:nvPr/>
        </p:nvSpPr>
        <p:spPr>
          <a:xfrm>
            <a:off x="4514088" y="4526280"/>
            <a:ext cx="3160776" cy="749808"/>
          </a:xfrm>
          <a:prstGeom prst="rect">
            <a:avLst/>
          </a:prstGeom>
          <a:noFill/>
        </p:spPr>
        <p:txBody>
          <a:bodyPr wrap="square" lIns="0" rIns="0" tIns="0" bIns="0">
            <a:spAutoFit/>
          </a:bodyPr>
          <a:lstStyle/>
          <a:p>
            <a:pPr>
              <a:lnSpc>
                <a:spcPct val="128000"/>
              </a:lnSpc>
              <a:spcAft>
                <a:spcPts val="400"/>
              </a:spcAft>
              <a:defRPr sz="1200" b="0">
                <a:solidFill>
                  <a:srgbClr val="75816F"/>
                </a:solidFill>
                <a:latin typeface="Arial"/>
              </a:defRPr>
            </a:pPr>
            <a:r>
              <a:t>Examiner les exports et accès autorisés ; tester la reprise des clients, stocks, documents et historiques sur une copie.</a:t>
            </a:r>
          </a:p>
        </p:txBody>
      </p:sp>
      <p:sp>
        <p:nvSpPr>
          <p:cNvPr id="13" name="Rounded Rectangle 12"/>
          <p:cNvSpPr/>
          <p:nvPr/>
        </p:nvSpPr>
        <p:spPr>
          <a:xfrm>
            <a:off x="8022336" y="3063240"/>
            <a:ext cx="3526536" cy="283464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5215" y="3246120"/>
            <a:ext cx="3160776" cy="365760"/>
          </a:xfrm>
          <a:prstGeom prst="rect">
            <a:avLst/>
          </a:prstGeom>
          <a:noFill/>
        </p:spPr>
        <p:txBody>
          <a:bodyPr wrap="square" lIns="0" rIns="0" tIns="0" bIns="0">
            <a:spAutoFit/>
          </a:bodyPr>
          <a:lstStyle/>
          <a:p>
            <a:pPr>
              <a:lnSpc>
                <a:spcPct val="128000"/>
              </a:lnSpc>
              <a:spcAft>
                <a:spcPts val="400"/>
              </a:spcAft>
              <a:defRPr sz="1200" b="0">
                <a:solidFill>
                  <a:srgbClr val="B99967"/>
                </a:solidFill>
                <a:latin typeface="Arial"/>
              </a:defRPr>
            </a:pPr>
            <a:r>
              <a:t>03</a:t>
            </a:r>
          </a:p>
        </p:txBody>
      </p:sp>
      <p:sp>
        <p:nvSpPr>
          <p:cNvPr id="15" name="TextBox 14"/>
          <p:cNvSpPr txBox="1"/>
          <p:nvPr/>
        </p:nvSpPr>
        <p:spPr>
          <a:xfrm>
            <a:off x="8205215" y="3749039"/>
            <a:ext cx="3160776" cy="731520"/>
          </a:xfrm>
          <a:prstGeom prst="rect">
            <a:avLst/>
          </a:prstGeom>
          <a:noFill/>
        </p:spPr>
        <p:txBody>
          <a:bodyPr wrap="square" lIns="0" rIns="0" tIns="0" bIns="0">
            <a:spAutoFit/>
          </a:bodyPr>
          <a:lstStyle/>
          <a:p>
            <a:pPr>
              <a:lnSpc>
                <a:spcPct val="112000"/>
              </a:lnSpc>
              <a:spcAft>
                <a:spcPts val="400"/>
              </a:spcAft>
              <a:defRPr sz="2100" b="0">
                <a:solidFill>
                  <a:srgbClr val="203E32"/>
                </a:solidFill>
                <a:latin typeface="Georgia"/>
              </a:defRPr>
            </a:pPr>
            <a:r>
              <a:t>Votre continuité</a:t>
            </a:r>
          </a:p>
        </p:txBody>
      </p:sp>
      <p:sp>
        <p:nvSpPr>
          <p:cNvPr id="16" name="TextBox 15"/>
          <p:cNvSpPr txBox="1"/>
          <p:nvPr/>
        </p:nvSpPr>
        <p:spPr>
          <a:xfrm>
            <a:off x="8205215" y="4526280"/>
            <a:ext cx="3160776" cy="749808"/>
          </a:xfrm>
          <a:prstGeom prst="rect">
            <a:avLst/>
          </a:prstGeom>
          <a:noFill/>
        </p:spPr>
        <p:txBody>
          <a:bodyPr wrap="square" lIns="0" rIns="0" tIns="0" bIns="0">
            <a:spAutoFit/>
          </a:bodyPr>
          <a:lstStyle/>
          <a:p>
            <a:pPr>
              <a:lnSpc>
                <a:spcPct val="128000"/>
              </a:lnSpc>
              <a:spcAft>
                <a:spcPts val="400"/>
              </a:spcAft>
              <a:defRPr sz="1200" b="0">
                <a:solidFill>
                  <a:srgbClr val="75816F"/>
                </a:solidFill>
                <a:latin typeface="Arial"/>
              </a:defRPr>
            </a:pPr>
            <a:r>
              <a:t>Définir les accès, l’hébergement, les sauvegardes, les tests de restauration et les responsabilités de maintenance.</a:t>
            </a:r>
          </a:p>
        </p:txBody>
      </p:sp>
      <p:sp>
        <p:nvSpPr>
          <p:cNvPr id="17" name="TextBox 16"/>
          <p:cNvSpPr txBox="1"/>
          <p:nvPr/>
        </p:nvSpPr>
        <p:spPr>
          <a:xfrm>
            <a:off x="640080" y="5980176"/>
            <a:ext cx="10908792" cy="256032"/>
          </a:xfrm>
          <a:prstGeom prst="rect">
            <a:avLst/>
          </a:prstGeom>
          <a:noFill/>
        </p:spPr>
        <p:txBody>
          <a:bodyPr wrap="square" lIns="0" rIns="0" tIns="0" bIns="0">
            <a:spAutoFit/>
          </a:bodyPr>
          <a:lstStyle/>
          <a:p>
            <a:pPr>
              <a:lnSpc>
                <a:spcPct val="128000"/>
              </a:lnSpc>
              <a:spcAft>
                <a:spcPts val="400"/>
              </a:spcAft>
              <a:defRPr sz="900" b="0">
                <a:solidFill>
                  <a:srgbClr val="75816F"/>
                </a:solidFill>
                <a:latin typeface="Arial"/>
              </a:defRPr>
            </a:pPr>
            <a:r>
              <a:t>Une application indépendante, fondée sur les besoins validés avec le client.</a:t>
            </a:r>
          </a:p>
        </p:txBody>
      </p:sp>
      <p:sp>
        <p:nvSpPr>
          <p:cNvPr id="18" name="Rectangle 17"/>
          <p:cNvSpPr/>
          <p:nvPr/>
        </p:nvSpPr>
        <p:spPr>
          <a:xfrm>
            <a:off x="640080" y="6391656"/>
            <a:ext cx="10908792" cy="7315"/>
          </a:xfrm>
          <a:prstGeom prst="rect">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92240"/>
            <a:ext cx="91440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Cuvée · présentation de projet</a:t>
            </a:r>
          </a:p>
        </p:txBody>
      </p:sp>
      <p:sp>
        <p:nvSpPr>
          <p:cNvPr id="20" name="TextBox 19"/>
          <p:cNvSpPr txBox="1"/>
          <p:nvPr/>
        </p:nvSpPr>
        <p:spPr>
          <a:xfrm>
            <a:off x="10881360" y="6492240"/>
            <a:ext cx="6858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640080" y="502920"/>
            <a:ext cx="10972800" cy="201168"/>
          </a:xfrm>
          <a:prstGeom prst="rect">
            <a:avLst/>
          </a:prstGeom>
          <a:noFill/>
        </p:spPr>
        <p:txBody>
          <a:bodyPr wrap="square" lIns="0" rIns="0" tIns="0" bIns="0">
            <a:spAutoFit/>
          </a:bodyPr>
          <a:lstStyle/>
          <a:p>
            <a:pPr>
              <a:lnSpc>
                <a:spcPct val="128000"/>
              </a:lnSpc>
              <a:spcAft>
                <a:spcPts val="400"/>
              </a:spcAft>
              <a:defRPr sz="1000" b="1">
                <a:solidFill>
                  <a:srgbClr val="B99967"/>
                </a:solidFill>
                <a:latin typeface="Arial"/>
              </a:defRPr>
            </a:pPr>
            <a:r>
              <a:t>UNE TRANSITION PROGRESSIVE</a:t>
            </a:r>
          </a:p>
        </p:txBody>
      </p:sp>
      <p:sp>
        <p:nvSpPr>
          <p:cNvPr id="3" name="TextBox 2"/>
          <p:cNvSpPr txBox="1"/>
          <p:nvPr/>
        </p:nvSpPr>
        <p:spPr>
          <a:xfrm>
            <a:off x="640080" y="914400"/>
            <a:ext cx="10881360" cy="1280160"/>
          </a:xfrm>
          <a:prstGeom prst="rect">
            <a:avLst/>
          </a:prstGeom>
          <a:noFill/>
        </p:spPr>
        <p:txBody>
          <a:bodyPr wrap="square" lIns="0" rIns="0" tIns="0" bIns="0">
            <a:spAutoFit/>
          </a:bodyPr>
          <a:lstStyle/>
          <a:p>
            <a:pPr>
              <a:lnSpc>
                <a:spcPct val="112000"/>
              </a:lnSpc>
              <a:spcAft>
                <a:spcPts val="400"/>
              </a:spcAft>
              <a:defRPr sz="3200" b="0">
                <a:solidFill>
                  <a:srgbClr val="203E32"/>
                </a:solidFill>
                <a:latin typeface="Georgia"/>
              </a:defRPr>
            </a:pPr>
            <a:r>
              <a:t>Avancer par étapes,</a:t>
            </a:r>
          </a:p>
          <a:p>
            <a:pPr>
              <a:lnSpc>
                <a:spcPct val="112000"/>
              </a:lnSpc>
              <a:spcAft>
                <a:spcPts val="400"/>
              </a:spcAft>
              <a:defRPr sz="3200" b="0">
                <a:solidFill>
                  <a:srgbClr val="203E32"/>
                </a:solidFill>
                <a:latin typeface="Georgia"/>
              </a:defRPr>
            </a:pPr>
            <a:r>
              <a:t>avec vous.</a:t>
            </a:r>
          </a:p>
        </p:txBody>
      </p:sp>
      <p:sp>
        <p:nvSpPr>
          <p:cNvPr id="4" name="TextBox 3"/>
          <p:cNvSpPr txBox="1"/>
          <p:nvPr/>
        </p:nvSpPr>
        <p:spPr>
          <a:xfrm>
            <a:off x="640080" y="2258568"/>
            <a:ext cx="10881360" cy="548640"/>
          </a:xfrm>
          <a:prstGeom prst="rect">
            <a:avLst/>
          </a:prstGeom>
          <a:noFill/>
        </p:spPr>
        <p:txBody>
          <a:bodyPr wrap="square" lIns="0" rIns="0" tIns="0" bIns="0">
            <a:spAutoFit/>
          </a:bodyPr>
          <a:lstStyle/>
          <a:p>
            <a:pPr>
              <a:lnSpc>
                <a:spcPct val="128000"/>
              </a:lnSpc>
              <a:spcAft>
                <a:spcPts val="400"/>
              </a:spcAft>
              <a:defRPr sz="1300" b="0">
                <a:solidFill>
                  <a:srgbClr val="75816F"/>
                </a:solidFill>
                <a:latin typeface="Arial"/>
              </a:defRPr>
            </a:pPr>
            <a:r>
              <a:t>Chaque étape produit un résultat concret que vous pouvez examiner.</a:t>
            </a:r>
          </a:p>
        </p:txBody>
      </p:sp>
      <p:sp>
        <p:nvSpPr>
          <p:cNvPr id="5" name="Rounded Rectangle 4"/>
          <p:cNvSpPr/>
          <p:nvPr/>
        </p:nvSpPr>
        <p:spPr>
          <a:xfrm>
            <a:off x="640080" y="3063240"/>
            <a:ext cx="2603754" cy="283464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3246120"/>
            <a:ext cx="2237994" cy="365760"/>
          </a:xfrm>
          <a:prstGeom prst="rect">
            <a:avLst/>
          </a:prstGeom>
          <a:noFill/>
        </p:spPr>
        <p:txBody>
          <a:bodyPr wrap="square" lIns="0" rIns="0" tIns="0" bIns="0">
            <a:spAutoFit/>
          </a:bodyPr>
          <a:lstStyle/>
          <a:p>
            <a:pPr>
              <a:lnSpc>
                <a:spcPct val="128000"/>
              </a:lnSpc>
              <a:spcAft>
                <a:spcPts val="400"/>
              </a:spcAft>
              <a:defRPr sz="2400" b="0">
                <a:solidFill>
                  <a:srgbClr val="B99967"/>
                </a:solidFill>
                <a:latin typeface="Arial"/>
              </a:defRPr>
            </a:pPr>
            <a:r>
              <a:t>01</a:t>
            </a:r>
          </a:p>
        </p:txBody>
      </p:sp>
      <p:sp>
        <p:nvSpPr>
          <p:cNvPr id="7" name="TextBox 6"/>
          <p:cNvSpPr txBox="1"/>
          <p:nvPr/>
        </p:nvSpPr>
        <p:spPr>
          <a:xfrm>
            <a:off x="822959" y="3749039"/>
            <a:ext cx="2237994" cy="731520"/>
          </a:xfrm>
          <a:prstGeom prst="rect">
            <a:avLst/>
          </a:prstGeom>
          <a:noFill/>
        </p:spPr>
        <p:txBody>
          <a:bodyPr wrap="square" lIns="0" rIns="0" tIns="0" bIns="0">
            <a:spAutoFit/>
          </a:bodyPr>
          <a:lstStyle/>
          <a:p>
            <a:pPr>
              <a:lnSpc>
                <a:spcPct val="112000"/>
              </a:lnSpc>
              <a:spcAft>
                <a:spcPts val="400"/>
              </a:spcAft>
              <a:defRPr sz="1900" b="0">
                <a:solidFill>
                  <a:srgbClr val="203E32"/>
                </a:solidFill>
                <a:latin typeface="Georgia"/>
              </a:defRPr>
            </a:pPr>
            <a:r>
              <a:t>Écouter &amp; cadrer</a:t>
            </a:r>
          </a:p>
        </p:txBody>
      </p:sp>
      <p:sp>
        <p:nvSpPr>
          <p:cNvPr id="8" name="TextBox 7"/>
          <p:cNvSpPr txBox="1"/>
          <p:nvPr/>
        </p:nvSpPr>
        <p:spPr>
          <a:xfrm>
            <a:off x="822959" y="4526280"/>
            <a:ext cx="2237994" cy="749808"/>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Observer les usages, examiner les données et choisir les priorités.</a:t>
            </a:r>
          </a:p>
        </p:txBody>
      </p:sp>
      <p:sp>
        <p:nvSpPr>
          <p:cNvPr id="9" name="TextBox 8"/>
          <p:cNvSpPr txBox="1"/>
          <p:nvPr/>
        </p:nvSpPr>
        <p:spPr>
          <a:xfrm>
            <a:off x="822959" y="5349240"/>
            <a:ext cx="2237994" cy="457200"/>
          </a:xfrm>
          <a:prstGeom prst="rect">
            <a:avLst/>
          </a:prstGeom>
          <a:noFill/>
        </p:spPr>
        <p:txBody>
          <a:bodyPr wrap="square" lIns="0" rIns="0" tIns="0" bIns="0">
            <a:spAutoFit/>
          </a:bodyPr>
          <a:lstStyle/>
          <a:p>
            <a:pPr>
              <a:lnSpc>
                <a:spcPct val="128000"/>
              </a:lnSpc>
              <a:spcAft>
                <a:spcPts val="400"/>
              </a:spcAft>
              <a:defRPr sz="900" b="0">
                <a:solidFill>
                  <a:srgbClr val="75816F"/>
                </a:solidFill>
                <a:latin typeface="Arial"/>
              </a:defRPr>
            </a:pPr>
            <a:r>
              <a:t>Un périmètre partagé.</a:t>
            </a:r>
          </a:p>
        </p:txBody>
      </p:sp>
      <p:sp>
        <p:nvSpPr>
          <p:cNvPr id="10" name="Rounded Rectangle 9"/>
          <p:cNvSpPr/>
          <p:nvPr/>
        </p:nvSpPr>
        <p:spPr>
          <a:xfrm>
            <a:off x="3408426" y="3063240"/>
            <a:ext cx="2603754" cy="283464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1306" y="3246120"/>
            <a:ext cx="2237994" cy="365760"/>
          </a:xfrm>
          <a:prstGeom prst="rect">
            <a:avLst/>
          </a:prstGeom>
          <a:noFill/>
        </p:spPr>
        <p:txBody>
          <a:bodyPr wrap="square" lIns="0" rIns="0" tIns="0" bIns="0">
            <a:spAutoFit/>
          </a:bodyPr>
          <a:lstStyle/>
          <a:p>
            <a:pPr>
              <a:lnSpc>
                <a:spcPct val="128000"/>
              </a:lnSpc>
              <a:spcAft>
                <a:spcPts val="400"/>
              </a:spcAft>
              <a:defRPr sz="2400" b="0">
                <a:solidFill>
                  <a:srgbClr val="B99967"/>
                </a:solidFill>
                <a:latin typeface="Arial"/>
              </a:defRPr>
            </a:pPr>
            <a:r>
              <a:t>02</a:t>
            </a:r>
          </a:p>
        </p:txBody>
      </p:sp>
      <p:sp>
        <p:nvSpPr>
          <p:cNvPr id="12" name="TextBox 11"/>
          <p:cNvSpPr txBox="1"/>
          <p:nvPr/>
        </p:nvSpPr>
        <p:spPr>
          <a:xfrm>
            <a:off x="3591306" y="3749039"/>
            <a:ext cx="2237994" cy="731520"/>
          </a:xfrm>
          <a:prstGeom prst="rect">
            <a:avLst/>
          </a:prstGeom>
          <a:noFill/>
        </p:spPr>
        <p:txBody>
          <a:bodyPr wrap="square" lIns="0" rIns="0" tIns="0" bIns="0">
            <a:spAutoFit/>
          </a:bodyPr>
          <a:lstStyle/>
          <a:p>
            <a:pPr>
              <a:lnSpc>
                <a:spcPct val="112000"/>
              </a:lnSpc>
              <a:spcAft>
                <a:spcPts val="400"/>
              </a:spcAft>
              <a:defRPr sz="1900" b="0">
                <a:solidFill>
                  <a:srgbClr val="203E32"/>
                </a:solidFill>
                <a:latin typeface="Georgia"/>
              </a:defRPr>
            </a:pPr>
            <a:r>
              <a:t>Tester le prototype</a:t>
            </a:r>
          </a:p>
        </p:txBody>
      </p:sp>
      <p:sp>
        <p:nvSpPr>
          <p:cNvPr id="13" name="TextBox 12"/>
          <p:cNvSpPr txBox="1"/>
          <p:nvPr/>
        </p:nvSpPr>
        <p:spPr>
          <a:xfrm>
            <a:off x="3591306" y="4526280"/>
            <a:ext cx="2237994" cy="749808"/>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Essayer les écrans et un parcours complet avec les utilisateurs.</a:t>
            </a:r>
          </a:p>
        </p:txBody>
      </p:sp>
      <p:sp>
        <p:nvSpPr>
          <p:cNvPr id="14" name="TextBox 13"/>
          <p:cNvSpPr txBox="1"/>
          <p:nvPr/>
        </p:nvSpPr>
        <p:spPr>
          <a:xfrm>
            <a:off x="3591306" y="5349240"/>
            <a:ext cx="2237994" cy="457200"/>
          </a:xfrm>
          <a:prstGeom prst="rect">
            <a:avLst/>
          </a:prstGeom>
          <a:noFill/>
        </p:spPr>
        <p:txBody>
          <a:bodyPr wrap="square" lIns="0" rIns="0" tIns="0" bIns="0">
            <a:spAutoFit/>
          </a:bodyPr>
          <a:lstStyle/>
          <a:p>
            <a:pPr>
              <a:lnSpc>
                <a:spcPct val="128000"/>
              </a:lnSpc>
              <a:spcAft>
                <a:spcPts val="400"/>
              </a:spcAft>
              <a:defRPr sz="900" b="0">
                <a:solidFill>
                  <a:srgbClr val="75816F"/>
                </a:solidFill>
                <a:latin typeface="Arial"/>
              </a:defRPr>
            </a:pPr>
            <a:r>
              <a:t>Des choix d’usage validés.</a:t>
            </a:r>
          </a:p>
        </p:txBody>
      </p:sp>
      <p:sp>
        <p:nvSpPr>
          <p:cNvPr id="15" name="Rounded Rectangle 14"/>
          <p:cNvSpPr/>
          <p:nvPr/>
        </p:nvSpPr>
        <p:spPr>
          <a:xfrm>
            <a:off x="6176772" y="3063240"/>
            <a:ext cx="2603754" cy="283464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9652" y="3246120"/>
            <a:ext cx="2237994" cy="365760"/>
          </a:xfrm>
          <a:prstGeom prst="rect">
            <a:avLst/>
          </a:prstGeom>
          <a:noFill/>
        </p:spPr>
        <p:txBody>
          <a:bodyPr wrap="square" lIns="0" rIns="0" tIns="0" bIns="0">
            <a:spAutoFit/>
          </a:bodyPr>
          <a:lstStyle/>
          <a:p>
            <a:pPr>
              <a:lnSpc>
                <a:spcPct val="128000"/>
              </a:lnSpc>
              <a:spcAft>
                <a:spcPts val="400"/>
              </a:spcAft>
              <a:defRPr sz="2400" b="0">
                <a:solidFill>
                  <a:srgbClr val="B99967"/>
                </a:solidFill>
                <a:latin typeface="Arial"/>
              </a:defRPr>
            </a:pPr>
            <a:r>
              <a:t>03</a:t>
            </a:r>
          </a:p>
        </p:txBody>
      </p:sp>
      <p:sp>
        <p:nvSpPr>
          <p:cNvPr id="17" name="TextBox 16"/>
          <p:cNvSpPr txBox="1"/>
          <p:nvPr/>
        </p:nvSpPr>
        <p:spPr>
          <a:xfrm>
            <a:off x="6359652" y="3749039"/>
            <a:ext cx="2237994" cy="731520"/>
          </a:xfrm>
          <a:prstGeom prst="rect">
            <a:avLst/>
          </a:prstGeom>
          <a:noFill/>
        </p:spPr>
        <p:txBody>
          <a:bodyPr wrap="square" lIns="0" rIns="0" tIns="0" bIns="0">
            <a:spAutoFit/>
          </a:bodyPr>
          <a:lstStyle/>
          <a:p>
            <a:pPr>
              <a:lnSpc>
                <a:spcPct val="112000"/>
              </a:lnSpc>
              <a:spcAft>
                <a:spcPts val="400"/>
              </a:spcAft>
              <a:defRPr sz="1900" b="0">
                <a:solidFill>
                  <a:srgbClr val="203E32"/>
                </a:solidFill>
                <a:latin typeface="Georgia"/>
              </a:defRPr>
            </a:pPr>
            <a:r>
              <a:t>Construire &amp; reprendre</a:t>
            </a:r>
          </a:p>
        </p:txBody>
      </p:sp>
      <p:sp>
        <p:nvSpPr>
          <p:cNvPr id="18" name="TextBox 17"/>
          <p:cNvSpPr txBox="1"/>
          <p:nvPr/>
        </p:nvSpPr>
        <p:spPr>
          <a:xfrm>
            <a:off x="6359652" y="4526280"/>
            <a:ext cx="2237994" cy="749808"/>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Développer le socle, tester les règles métier et la migration.</a:t>
            </a:r>
          </a:p>
        </p:txBody>
      </p:sp>
      <p:sp>
        <p:nvSpPr>
          <p:cNvPr id="19" name="TextBox 18"/>
          <p:cNvSpPr txBox="1"/>
          <p:nvPr/>
        </p:nvSpPr>
        <p:spPr>
          <a:xfrm>
            <a:off x="6359652" y="5349240"/>
            <a:ext cx="2237994" cy="457200"/>
          </a:xfrm>
          <a:prstGeom prst="rect">
            <a:avLst/>
          </a:prstGeom>
          <a:noFill/>
        </p:spPr>
        <p:txBody>
          <a:bodyPr wrap="square" lIns="0" rIns="0" tIns="0" bIns="0">
            <a:spAutoFit/>
          </a:bodyPr>
          <a:lstStyle/>
          <a:p>
            <a:pPr>
              <a:lnSpc>
                <a:spcPct val="128000"/>
              </a:lnSpc>
              <a:spcAft>
                <a:spcPts val="400"/>
              </a:spcAft>
              <a:defRPr sz="900" b="0">
                <a:solidFill>
                  <a:srgbClr val="75816F"/>
                </a:solidFill>
                <a:latin typeface="Arial"/>
              </a:defRPr>
            </a:pPr>
            <a:r>
              <a:t>Une version pilote vérifiée.</a:t>
            </a:r>
          </a:p>
        </p:txBody>
      </p:sp>
      <p:sp>
        <p:nvSpPr>
          <p:cNvPr id="20" name="Rounded Rectangle 19"/>
          <p:cNvSpPr/>
          <p:nvPr/>
        </p:nvSpPr>
        <p:spPr>
          <a:xfrm>
            <a:off x="8945118" y="3063240"/>
            <a:ext cx="2603754" cy="2834640"/>
          </a:xfrm>
          <a:prstGeom prst="roundRect">
            <a:avLst>
              <a:gd name="adj" fmla="val 6000"/>
            </a:avLst>
          </a:prstGeom>
          <a:solidFill>
            <a:srgbClr val="FFFFFF"/>
          </a:solidFill>
          <a:ln>
            <a:solidFill>
              <a:srgbClr val="DDE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7998" y="3246120"/>
            <a:ext cx="2237994" cy="365760"/>
          </a:xfrm>
          <a:prstGeom prst="rect">
            <a:avLst/>
          </a:prstGeom>
          <a:noFill/>
        </p:spPr>
        <p:txBody>
          <a:bodyPr wrap="square" lIns="0" rIns="0" tIns="0" bIns="0">
            <a:spAutoFit/>
          </a:bodyPr>
          <a:lstStyle/>
          <a:p>
            <a:pPr>
              <a:lnSpc>
                <a:spcPct val="128000"/>
              </a:lnSpc>
              <a:spcAft>
                <a:spcPts val="400"/>
              </a:spcAft>
              <a:defRPr sz="2400" b="0">
                <a:solidFill>
                  <a:srgbClr val="B99967"/>
                </a:solidFill>
                <a:latin typeface="Arial"/>
              </a:defRPr>
            </a:pPr>
            <a:r>
              <a:t>04</a:t>
            </a:r>
          </a:p>
        </p:txBody>
      </p:sp>
      <p:sp>
        <p:nvSpPr>
          <p:cNvPr id="22" name="TextBox 21"/>
          <p:cNvSpPr txBox="1"/>
          <p:nvPr/>
        </p:nvSpPr>
        <p:spPr>
          <a:xfrm>
            <a:off x="9127998" y="3749039"/>
            <a:ext cx="2237994" cy="731520"/>
          </a:xfrm>
          <a:prstGeom prst="rect">
            <a:avLst/>
          </a:prstGeom>
          <a:noFill/>
        </p:spPr>
        <p:txBody>
          <a:bodyPr wrap="square" lIns="0" rIns="0" tIns="0" bIns="0">
            <a:spAutoFit/>
          </a:bodyPr>
          <a:lstStyle/>
          <a:p>
            <a:pPr>
              <a:lnSpc>
                <a:spcPct val="112000"/>
              </a:lnSpc>
              <a:spcAft>
                <a:spcPts val="400"/>
              </a:spcAft>
              <a:defRPr sz="1900" b="0">
                <a:solidFill>
                  <a:srgbClr val="203E32"/>
                </a:solidFill>
                <a:latin typeface="Georgia"/>
              </a:defRPr>
            </a:pPr>
            <a:r>
              <a:t>Accompagner la bascule</a:t>
            </a:r>
          </a:p>
        </p:txBody>
      </p:sp>
      <p:sp>
        <p:nvSpPr>
          <p:cNvPr id="23" name="TextBox 22"/>
          <p:cNvSpPr txBox="1"/>
          <p:nvPr/>
        </p:nvSpPr>
        <p:spPr>
          <a:xfrm>
            <a:off x="9127998" y="4526280"/>
            <a:ext cx="2237994" cy="749808"/>
          </a:xfrm>
          <a:prstGeom prst="rect">
            <a:avLst/>
          </a:prstGeom>
          <a:noFill/>
        </p:spPr>
        <p:txBody>
          <a:bodyPr wrap="square" lIns="0" rIns="0" tIns="0" bIns="0">
            <a:spAutoFit/>
          </a:bodyPr>
          <a:lstStyle/>
          <a:p>
            <a:pPr>
              <a:lnSpc>
                <a:spcPct val="128000"/>
              </a:lnSpc>
              <a:spcAft>
                <a:spcPts val="400"/>
              </a:spcAft>
              <a:defRPr sz="1100" b="0">
                <a:solidFill>
                  <a:srgbClr val="75816F"/>
                </a:solidFill>
                <a:latin typeface="Arial"/>
              </a:defRPr>
            </a:pPr>
            <a:r>
              <a:t>Former, migrer les données validées et suivre les premiers usages.</a:t>
            </a:r>
          </a:p>
        </p:txBody>
      </p:sp>
      <p:sp>
        <p:nvSpPr>
          <p:cNvPr id="24" name="TextBox 23"/>
          <p:cNvSpPr txBox="1"/>
          <p:nvPr/>
        </p:nvSpPr>
        <p:spPr>
          <a:xfrm>
            <a:off x="9127998" y="5349240"/>
            <a:ext cx="2237994" cy="457200"/>
          </a:xfrm>
          <a:prstGeom prst="rect">
            <a:avLst/>
          </a:prstGeom>
          <a:noFill/>
        </p:spPr>
        <p:txBody>
          <a:bodyPr wrap="square" lIns="0" rIns="0" tIns="0" bIns="0">
            <a:spAutoFit/>
          </a:bodyPr>
          <a:lstStyle/>
          <a:p>
            <a:pPr>
              <a:lnSpc>
                <a:spcPct val="128000"/>
              </a:lnSpc>
              <a:spcAft>
                <a:spcPts val="400"/>
              </a:spcAft>
              <a:defRPr sz="900" b="0">
                <a:solidFill>
                  <a:srgbClr val="75816F"/>
                </a:solidFill>
                <a:latin typeface="Arial"/>
              </a:defRPr>
            </a:pPr>
            <a:r>
              <a:t>Une mise en service acceptée.</a:t>
            </a:r>
          </a:p>
        </p:txBody>
      </p:sp>
      <p:sp>
        <p:nvSpPr>
          <p:cNvPr id="25" name="TextBox 24"/>
          <p:cNvSpPr txBox="1"/>
          <p:nvPr/>
        </p:nvSpPr>
        <p:spPr>
          <a:xfrm>
            <a:off x="640080" y="5980176"/>
            <a:ext cx="10908792" cy="256032"/>
          </a:xfrm>
          <a:prstGeom prst="rect">
            <a:avLst/>
          </a:prstGeom>
          <a:noFill/>
        </p:spPr>
        <p:txBody>
          <a:bodyPr wrap="square" lIns="0" rIns="0" tIns="0" bIns="0">
            <a:spAutoFit/>
          </a:bodyPr>
          <a:lstStyle/>
          <a:p>
            <a:pPr>
              <a:lnSpc>
                <a:spcPct val="128000"/>
              </a:lnSpc>
              <a:spcAft>
                <a:spcPts val="400"/>
              </a:spcAft>
              <a:defRPr sz="900" b="0">
                <a:solidFill>
                  <a:srgbClr val="75816F"/>
                </a:solidFill>
                <a:latin typeface="Arial"/>
              </a:defRPr>
            </a:pPr>
            <a:r>
              <a:t>Budget et calendrier à établir après diagnostic : périmètre, intégrations, migration et exploitation.</a:t>
            </a:r>
          </a:p>
        </p:txBody>
      </p:sp>
      <p:sp>
        <p:nvSpPr>
          <p:cNvPr id="26" name="Rectangle 25"/>
          <p:cNvSpPr/>
          <p:nvPr/>
        </p:nvSpPr>
        <p:spPr>
          <a:xfrm>
            <a:off x="640080" y="6391656"/>
            <a:ext cx="10908792" cy="7315"/>
          </a:xfrm>
          <a:prstGeom prst="rect">
            <a:avLst/>
          </a:prstGeom>
          <a:solidFill>
            <a:srgbClr val="DDE3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6492240"/>
            <a:ext cx="91440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Cuvée · présentation de projet</a:t>
            </a:r>
          </a:p>
        </p:txBody>
      </p:sp>
      <p:sp>
        <p:nvSpPr>
          <p:cNvPr id="28" name="TextBox 27"/>
          <p:cNvSpPr txBox="1"/>
          <p:nvPr/>
        </p:nvSpPr>
        <p:spPr>
          <a:xfrm>
            <a:off x="10881360" y="6492240"/>
            <a:ext cx="685800" cy="164592"/>
          </a:xfrm>
          <a:prstGeom prst="rect">
            <a:avLst/>
          </a:prstGeom>
          <a:noFill/>
        </p:spPr>
        <p:txBody>
          <a:bodyPr wrap="square" lIns="0" rIns="0" tIns="0" bIns="0">
            <a:spAutoFit/>
          </a:bodyPr>
          <a:lstStyle/>
          <a:p>
            <a:pPr>
              <a:lnSpc>
                <a:spcPct val="128000"/>
              </a:lnSpc>
              <a:spcAft>
                <a:spcPts val="400"/>
              </a:spcAft>
              <a:defRPr sz="700" b="0">
                <a:solidFill>
                  <a:srgbClr val="75816F"/>
                </a:solidFill>
                <a:latin typeface="Arial"/>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93E32"/>
        </a:solidFill>
        <a:effectLst/>
      </p:bgPr>
    </p:bg>
    <p:spTree>
      <p:nvGrpSpPr>
        <p:cNvPr id="1" name=""/>
        <p:cNvGrpSpPr/>
        <p:nvPr/>
      </p:nvGrpSpPr>
      <p:grpSpPr/>
      <p:sp>
        <p:nvSpPr>
          <p:cNvPr id="2" name="TextBox 1"/>
          <p:cNvSpPr txBox="1"/>
          <p:nvPr/>
        </p:nvSpPr>
        <p:spPr>
          <a:xfrm>
            <a:off x="640080" y="777240"/>
            <a:ext cx="6400800" cy="228600"/>
          </a:xfrm>
          <a:prstGeom prst="rect">
            <a:avLst/>
          </a:prstGeom>
          <a:noFill/>
        </p:spPr>
        <p:txBody>
          <a:bodyPr wrap="square" lIns="0" rIns="0" tIns="0" bIns="0">
            <a:spAutoFit/>
          </a:bodyPr>
          <a:lstStyle/>
          <a:p>
            <a:pPr>
              <a:lnSpc>
                <a:spcPct val="128000"/>
              </a:lnSpc>
              <a:spcAft>
                <a:spcPts val="400"/>
              </a:spcAft>
              <a:defRPr sz="1000" b="1">
                <a:solidFill>
                  <a:srgbClr val="B99967"/>
                </a:solidFill>
                <a:latin typeface="Arial"/>
              </a:defRPr>
            </a:pPr>
            <a:r>
              <a:t>ÉCRIVONS LA SUITE ENSEMBLE</a:t>
            </a:r>
          </a:p>
        </p:txBody>
      </p:sp>
      <p:sp>
        <p:nvSpPr>
          <p:cNvPr id="3" name="TextBox 2"/>
          <p:cNvSpPr txBox="1"/>
          <p:nvPr/>
        </p:nvSpPr>
        <p:spPr>
          <a:xfrm>
            <a:off x="640080" y="1417320"/>
            <a:ext cx="6583680" cy="1737360"/>
          </a:xfrm>
          <a:prstGeom prst="rect">
            <a:avLst/>
          </a:prstGeom>
          <a:noFill/>
        </p:spPr>
        <p:txBody>
          <a:bodyPr wrap="square" lIns="0" rIns="0" tIns="0" bIns="0">
            <a:spAutoFit/>
          </a:bodyPr>
          <a:lstStyle/>
          <a:p>
            <a:pPr>
              <a:lnSpc>
                <a:spcPct val="112000"/>
              </a:lnSpc>
              <a:spcAft>
                <a:spcPts val="400"/>
              </a:spcAft>
              <a:defRPr sz="3800" b="0">
                <a:solidFill>
                  <a:srgbClr val="F6F5EF"/>
                </a:solidFill>
                <a:latin typeface="Georgia"/>
              </a:defRPr>
            </a:pPr>
            <a:r>
              <a:t>Et si nous commencions</a:t>
            </a:r>
          </a:p>
          <a:p>
            <a:pPr>
              <a:lnSpc>
                <a:spcPct val="112000"/>
              </a:lnSpc>
              <a:spcAft>
                <a:spcPts val="400"/>
              </a:spcAft>
              <a:defRPr sz="3800" b="0">
                <a:solidFill>
                  <a:srgbClr val="F6F5EF"/>
                </a:solidFill>
                <a:latin typeface="Georgia"/>
              </a:defRPr>
            </a:pPr>
            <a:r>
              <a:t>par vos trois priorités ?</a:t>
            </a:r>
          </a:p>
        </p:txBody>
      </p:sp>
      <p:sp>
        <p:nvSpPr>
          <p:cNvPr id="4" name="TextBox 3"/>
          <p:cNvSpPr txBox="1"/>
          <p:nvPr/>
        </p:nvSpPr>
        <p:spPr>
          <a:xfrm>
            <a:off x="640080" y="3474720"/>
            <a:ext cx="5669280" cy="1005840"/>
          </a:xfrm>
          <a:prstGeom prst="rect">
            <a:avLst/>
          </a:prstGeom>
          <a:noFill/>
        </p:spPr>
        <p:txBody>
          <a:bodyPr wrap="square" lIns="0" rIns="0" tIns="0" bIns="0">
            <a:spAutoFit/>
          </a:bodyPr>
          <a:lstStyle/>
          <a:p>
            <a:pPr>
              <a:lnSpc>
                <a:spcPct val="128000"/>
              </a:lnSpc>
              <a:spcAft>
                <a:spcPts val="400"/>
              </a:spcAft>
              <a:defRPr sz="1700" b="0">
                <a:solidFill>
                  <a:srgbClr val="B6C8AF"/>
                </a:solidFill>
                <a:latin typeface="Arial"/>
              </a:defRPr>
            </a:pPr>
            <a:r>
              <a:t>Un premier échange pour comprendre votre quotidien, puis un prototype pour décider sur du concret.</a:t>
            </a:r>
          </a:p>
        </p:txBody>
      </p:sp>
      <p:sp>
        <p:nvSpPr>
          <p:cNvPr id="5" name="Rounded Rectangle 4"/>
          <p:cNvSpPr/>
          <p:nvPr/>
        </p:nvSpPr>
        <p:spPr>
          <a:xfrm>
            <a:off x="640080" y="4846320"/>
            <a:ext cx="3017520" cy="502920"/>
          </a:xfrm>
          <a:prstGeom prst="roundRect">
            <a:avLst>
              <a:gd name="adj" fmla="val 6000"/>
            </a:avLst>
          </a:prstGeom>
          <a:solidFill>
            <a:srgbClr val="E7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r:id="rId2"/>
          </p:cNvPr>
          <p:cNvSpPr txBox="1"/>
          <p:nvPr/>
        </p:nvSpPr>
        <p:spPr>
          <a:xfrm>
            <a:off x="822960" y="4965192"/>
            <a:ext cx="2743200" cy="274320"/>
          </a:xfrm>
          <a:prstGeom prst="rect">
            <a:avLst/>
          </a:prstGeom>
          <a:noFill/>
        </p:spPr>
        <p:txBody>
          <a:bodyPr wrap="square" lIns="0" rIns="0" tIns="0" bIns="0">
            <a:spAutoFit/>
          </a:bodyPr>
          <a:lstStyle/>
          <a:p>
            <a:pPr>
              <a:lnSpc>
                <a:spcPct val="128000"/>
              </a:lnSpc>
              <a:spcAft>
                <a:spcPts val="400"/>
              </a:spcAft>
              <a:defRPr sz="1300" b="0">
                <a:solidFill>
                  <a:srgbClr val="193E32"/>
                </a:solidFill>
                <a:latin typeface="Arial"/>
              </a:defRPr>
            </a:pPr>
            <a:r>
              <a:t>Découvrir la maquette ↗</a:t>
            </a:r>
          </a:p>
        </p:txBody>
      </p:sp>
      <p:sp>
        <p:nvSpPr>
          <p:cNvPr id="7" name="TextBox 6"/>
          <p:cNvSpPr txBox="1"/>
          <p:nvPr/>
        </p:nvSpPr>
        <p:spPr>
          <a:xfrm>
            <a:off x="7772400" y="1051560"/>
            <a:ext cx="2743200" cy="182880"/>
          </a:xfrm>
          <a:prstGeom prst="rect">
            <a:avLst/>
          </a:prstGeom>
          <a:noFill/>
        </p:spPr>
        <p:txBody>
          <a:bodyPr wrap="square" lIns="0" rIns="0" tIns="0" bIns="0">
            <a:spAutoFit/>
          </a:bodyPr>
          <a:lstStyle/>
          <a:p>
            <a:pPr>
              <a:lnSpc>
                <a:spcPct val="128000"/>
              </a:lnSpc>
              <a:spcAft>
                <a:spcPts val="400"/>
              </a:spcAft>
              <a:defRPr sz="1000" b="0">
                <a:solidFill>
                  <a:srgbClr val="B99967"/>
                </a:solidFill>
                <a:latin typeface="Arial"/>
              </a:defRPr>
            </a:pPr>
            <a:r>
              <a:t>01</a:t>
            </a:r>
          </a:p>
        </p:txBody>
      </p:sp>
      <p:sp>
        <p:nvSpPr>
          <p:cNvPr id="8" name="TextBox 7"/>
          <p:cNvSpPr txBox="1"/>
          <p:nvPr/>
        </p:nvSpPr>
        <p:spPr>
          <a:xfrm>
            <a:off x="7772400" y="1371600"/>
            <a:ext cx="3749039" cy="457200"/>
          </a:xfrm>
          <a:prstGeom prst="rect">
            <a:avLst/>
          </a:prstGeom>
          <a:noFill/>
        </p:spPr>
        <p:txBody>
          <a:bodyPr wrap="square" lIns="0" rIns="0" tIns="0" bIns="0">
            <a:spAutoFit/>
          </a:bodyPr>
          <a:lstStyle/>
          <a:p>
            <a:pPr>
              <a:lnSpc>
                <a:spcPct val="112000"/>
              </a:lnSpc>
              <a:spcAft>
                <a:spcPts val="400"/>
              </a:spcAft>
              <a:defRPr sz="2000" b="0">
                <a:solidFill>
                  <a:srgbClr val="E7ECD9"/>
                </a:solidFill>
                <a:latin typeface="Georgia"/>
              </a:defRPr>
            </a:pPr>
            <a:r>
              <a:t>Ce qui vous prend du temps</a:t>
            </a:r>
          </a:p>
        </p:txBody>
      </p:sp>
      <p:sp>
        <p:nvSpPr>
          <p:cNvPr id="9" name="TextBox 8"/>
          <p:cNvSpPr txBox="1"/>
          <p:nvPr/>
        </p:nvSpPr>
        <p:spPr>
          <a:xfrm>
            <a:off x="7772400" y="1901952"/>
            <a:ext cx="3749039" cy="457200"/>
          </a:xfrm>
          <a:prstGeom prst="rect">
            <a:avLst/>
          </a:prstGeom>
          <a:noFill/>
        </p:spPr>
        <p:txBody>
          <a:bodyPr wrap="square" lIns="0" rIns="0" tIns="0" bIns="0">
            <a:spAutoFit/>
          </a:bodyPr>
          <a:lstStyle/>
          <a:p>
            <a:pPr>
              <a:lnSpc>
                <a:spcPct val="128000"/>
              </a:lnSpc>
              <a:spcAft>
                <a:spcPts val="400"/>
              </a:spcAft>
              <a:defRPr sz="1200" b="0">
                <a:solidFill>
                  <a:srgbClr val="B6C8AF"/>
                </a:solidFill>
                <a:latin typeface="Arial"/>
              </a:defRPr>
            </a:pPr>
            <a:r>
              <a:t>Les tâches que vous aimeriez simplifier.</a:t>
            </a:r>
          </a:p>
        </p:txBody>
      </p:sp>
      <p:sp>
        <p:nvSpPr>
          <p:cNvPr id="10" name="TextBox 9"/>
          <p:cNvSpPr txBox="1"/>
          <p:nvPr/>
        </p:nvSpPr>
        <p:spPr>
          <a:xfrm>
            <a:off x="7772400" y="2496312"/>
            <a:ext cx="2743200" cy="182880"/>
          </a:xfrm>
          <a:prstGeom prst="rect">
            <a:avLst/>
          </a:prstGeom>
          <a:noFill/>
        </p:spPr>
        <p:txBody>
          <a:bodyPr wrap="square" lIns="0" rIns="0" tIns="0" bIns="0">
            <a:spAutoFit/>
          </a:bodyPr>
          <a:lstStyle/>
          <a:p>
            <a:pPr>
              <a:lnSpc>
                <a:spcPct val="128000"/>
              </a:lnSpc>
              <a:spcAft>
                <a:spcPts val="400"/>
              </a:spcAft>
              <a:defRPr sz="1000" b="0">
                <a:solidFill>
                  <a:srgbClr val="B99967"/>
                </a:solidFill>
                <a:latin typeface="Arial"/>
              </a:defRPr>
            </a:pPr>
            <a:r>
              <a:t>02</a:t>
            </a:r>
          </a:p>
        </p:txBody>
      </p:sp>
      <p:sp>
        <p:nvSpPr>
          <p:cNvPr id="11" name="TextBox 10"/>
          <p:cNvSpPr txBox="1"/>
          <p:nvPr/>
        </p:nvSpPr>
        <p:spPr>
          <a:xfrm>
            <a:off x="7772400" y="2816352"/>
            <a:ext cx="3749039" cy="457200"/>
          </a:xfrm>
          <a:prstGeom prst="rect">
            <a:avLst/>
          </a:prstGeom>
          <a:noFill/>
        </p:spPr>
        <p:txBody>
          <a:bodyPr wrap="square" lIns="0" rIns="0" tIns="0" bIns="0">
            <a:spAutoFit/>
          </a:bodyPr>
          <a:lstStyle/>
          <a:p>
            <a:pPr>
              <a:lnSpc>
                <a:spcPct val="112000"/>
              </a:lnSpc>
              <a:spcAft>
                <a:spcPts val="400"/>
              </a:spcAft>
              <a:defRPr sz="2000" b="0">
                <a:solidFill>
                  <a:srgbClr val="E7ECD9"/>
                </a:solidFill>
                <a:latin typeface="Georgia"/>
              </a:defRPr>
            </a:pPr>
            <a:r>
              <a:t>Ce qu’il faut préserver</a:t>
            </a:r>
          </a:p>
        </p:txBody>
      </p:sp>
      <p:sp>
        <p:nvSpPr>
          <p:cNvPr id="12" name="TextBox 11"/>
          <p:cNvSpPr txBox="1"/>
          <p:nvPr/>
        </p:nvSpPr>
        <p:spPr>
          <a:xfrm>
            <a:off x="7772400" y="3346704"/>
            <a:ext cx="3749039" cy="457200"/>
          </a:xfrm>
          <a:prstGeom prst="rect">
            <a:avLst/>
          </a:prstGeom>
          <a:noFill/>
        </p:spPr>
        <p:txBody>
          <a:bodyPr wrap="square" lIns="0" rIns="0" tIns="0" bIns="0">
            <a:spAutoFit/>
          </a:bodyPr>
          <a:lstStyle/>
          <a:p>
            <a:pPr>
              <a:lnSpc>
                <a:spcPct val="128000"/>
              </a:lnSpc>
              <a:spcAft>
                <a:spcPts val="400"/>
              </a:spcAft>
              <a:defRPr sz="1200" b="0">
                <a:solidFill>
                  <a:srgbClr val="B6C8AF"/>
                </a:solidFill>
                <a:latin typeface="Arial"/>
              </a:defRPr>
            </a:pPr>
            <a:r>
              <a:t>Les fonctions et habitudes indispensables.</a:t>
            </a:r>
          </a:p>
        </p:txBody>
      </p:sp>
      <p:sp>
        <p:nvSpPr>
          <p:cNvPr id="13" name="TextBox 12"/>
          <p:cNvSpPr txBox="1"/>
          <p:nvPr/>
        </p:nvSpPr>
        <p:spPr>
          <a:xfrm>
            <a:off x="7772400" y="3941064"/>
            <a:ext cx="2743200" cy="182880"/>
          </a:xfrm>
          <a:prstGeom prst="rect">
            <a:avLst/>
          </a:prstGeom>
          <a:noFill/>
        </p:spPr>
        <p:txBody>
          <a:bodyPr wrap="square" lIns="0" rIns="0" tIns="0" bIns="0">
            <a:spAutoFit/>
          </a:bodyPr>
          <a:lstStyle/>
          <a:p>
            <a:pPr>
              <a:lnSpc>
                <a:spcPct val="128000"/>
              </a:lnSpc>
              <a:spcAft>
                <a:spcPts val="400"/>
              </a:spcAft>
              <a:defRPr sz="1000" b="0">
                <a:solidFill>
                  <a:srgbClr val="B99967"/>
                </a:solidFill>
                <a:latin typeface="Arial"/>
              </a:defRPr>
            </a:pPr>
            <a:r>
              <a:t>03</a:t>
            </a:r>
          </a:p>
        </p:txBody>
      </p:sp>
      <p:sp>
        <p:nvSpPr>
          <p:cNvPr id="14" name="TextBox 13"/>
          <p:cNvSpPr txBox="1"/>
          <p:nvPr/>
        </p:nvSpPr>
        <p:spPr>
          <a:xfrm>
            <a:off x="7772400" y="4261104"/>
            <a:ext cx="3749039" cy="457200"/>
          </a:xfrm>
          <a:prstGeom prst="rect">
            <a:avLst/>
          </a:prstGeom>
          <a:noFill/>
        </p:spPr>
        <p:txBody>
          <a:bodyPr wrap="square" lIns="0" rIns="0" tIns="0" bIns="0">
            <a:spAutoFit/>
          </a:bodyPr>
          <a:lstStyle/>
          <a:p>
            <a:pPr>
              <a:lnSpc>
                <a:spcPct val="112000"/>
              </a:lnSpc>
              <a:spcAft>
                <a:spcPts val="400"/>
              </a:spcAft>
              <a:defRPr sz="2000" b="0">
                <a:solidFill>
                  <a:srgbClr val="E7ECD9"/>
                </a:solidFill>
                <a:latin typeface="Georgia"/>
              </a:defRPr>
            </a:pPr>
            <a:r>
              <a:t>Ce que vous voulez préparer</a:t>
            </a:r>
          </a:p>
        </p:txBody>
      </p:sp>
      <p:sp>
        <p:nvSpPr>
          <p:cNvPr id="15" name="TextBox 14"/>
          <p:cNvSpPr txBox="1"/>
          <p:nvPr/>
        </p:nvSpPr>
        <p:spPr>
          <a:xfrm>
            <a:off x="7772400" y="4791456"/>
            <a:ext cx="3749039" cy="457200"/>
          </a:xfrm>
          <a:prstGeom prst="rect">
            <a:avLst/>
          </a:prstGeom>
          <a:noFill/>
        </p:spPr>
        <p:txBody>
          <a:bodyPr wrap="square" lIns="0" rIns="0" tIns="0" bIns="0">
            <a:spAutoFit/>
          </a:bodyPr>
          <a:lstStyle/>
          <a:p>
            <a:pPr>
              <a:lnSpc>
                <a:spcPct val="128000"/>
              </a:lnSpc>
              <a:spcAft>
                <a:spcPts val="400"/>
              </a:spcAft>
              <a:defRPr sz="1200" b="0">
                <a:solidFill>
                  <a:srgbClr val="B6C8AF"/>
                </a:solidFill>
                <a:latin typeface="Arial"/>
              </a:defRPr>
            </a:pPr>
            <a:r>
              <a:t>Les nouveaux usages utiles à votre domaine.</a:t>
            </a:r>
          </a:p>
        </p:txBody>
      </p:sp>
      <p:sp>
        <p:nvSpPr>
          <p:cNvPr id="16" name="TextBox 15"/>
          <p:cNvSpPr txBox="1"/>
          <p:nvPr/>
        </p:nvSpPr>
        <p:spPr>
          <a:xfrm>
            <a:off x="640080" y="5980176"/>
            <a:ext cx="10908792" cy="256032"/>
          </a:xfrm>
          <a:prstGeom prst="rect">
            <a:avLst/>
          </a:prstGeom>
          <a:noFill/>
        </p:spPr>
        <p:txBody>
          <a:bodyPr wrap="square" lIns="0" rIns="0" tIns="0" bIns="0">
            <a:spAutoFit/>
          </a:bodyPr>
          <a:lstStyle/>
          <a:p>
            <a:pPr>
              <a:lnSpc>
                <a:spcPct val="128000"/>
              </a:lnSpc>
              <a:spcAft>
                <a:spcPts val="400"/>
              </a:spcAft>
              <a:defRPr sz="900" b="0">
                <a:solidFill>
                  <a:srgbClr val="B6C8AF"/>
                </a:solidFill>
                <a:latin typeface="Arial"/>
              </a:defRPr>
            </a:pPr>
            <a:r>
              <a:t>Prochaine étape proposée : un diagnostic ciblé et un premier périmètre à chiffrer.</a:t>
            </a:r>
          </a:p>
        </p:txBody>
      </p:sp>
      <p:sp>
        <p:nvSpPr>
          <p:cNvPr id="17" name="Rectangle 16"/>
          <p:cNvSpPr/>
          <p:nvPr/>
        </p:nvSpPr>
        <p:spPr>
          <a:xfrm>
            <a:off x="640080" y="6391656"/>
            <a:ext cx="10908792" cy="7315"/>
          </a:xfrm>
          <a:prstGeom prst="rect">
            <a:avLst/>
          </a:prstGeom>
          <a:solidFill>
            <a:srgbClr val="7581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492240"/>
            <a:ext cx="9144000" cy="164592"/>
          </a:xfrm>
          <a:prstGeom prst="rect">
            <a:avLst/>
          </a:prstGeom>
          <a:noFill/>
        </p:spPr>
        <p:txBody>
          <a:bodyPr wrap="square" lIns="0" rIns="0" tIns="0" bIns="0">
            <a:spAutoFit/>
          </a:bodyPr>
          <a:lstStyle/>
          <a:p>
            <a:pPr>
              <a:lnSpc>
                <a:spcPct val="128000"/>
              </a:lnSpc>
              <a:spcAft>
                <a:spcPts val="400"/>
              </a:spcAft>
              <a:defRPr sz="700" b="0">
                <a:solidFill>
                  <a:srgbClr val="B6C8AF"/>
                </a:solidFill>
                <a:latin typeface="Arial"/>
              </a:defRPr>
            </a:pPr>
            <a:r>
              <a:t>Cuvée · présentation de projet</a:t>
            </a:r>
          </a:p>
        </p:txBody>
      </p:sp>
      <p:sp>
        <p:nvSpPr>
          <p:cNvPr id="19" name="TextBox 18"/>
          <p:cNvSpPr txBox="1"/>
          <p:nvPr/>
        </p:nvSpPr>
        <p:spPr>
          <a:xfrm>
            <a:off x="10881360" y="6492240"/>
            <a:ext cx="685800" cy="164592"/>
          </a:xfrm>
          <a:prstGeom prst="rect">
            <a:avLst/>
          </a:prstGeom>
          <a:noFill/>
        </p:spPr>
        <p:txBody>
          <a:bodyPr wrap="square" lIns="0" rIns="0" tIns="0" bIns="0">
            <a:spAutoFit/>
          </a:bodyPr>
          <a:lstStyle/>
          <a:p>
            <a:pPr>
              <a:lnSpc>
                <a:spcPct val="128000"/>
              </a:lnSpc>
              <a:spcAft>
                <a:spcPts val="400"/>
              </a:spcAft>
              <a:defRPr sz="700" b="0">
                <a:solidFill>
                  <a:srgbClr val="B6C8AF"/>
                </a:solidFill>
                <a:latin typeface="Arial"/>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Cuvée — Présentation client</dc:title>
  <dc:subject>Proposition de nouvelle application pour vignerons-encaveurs</dc:subject>
  <dc:creator>Projet Cuvée</dc:creator>
  <cp:keywords/>
  <dc:description>Maquette et données fictives ; proposition indépendante.</dc:description>
  <cp:lastModifiedBy>Steve Canny</cp:lastModifiedBy>
  <cp:revision>1</cp:revision>
  <dcterms:created xsi:type="dcterms:W3CDTF">2013-01-27T09:14:16Z</dcterms:created>
  <dcterms:modified xsi:type="dcterms:W3CDTF">2013-01-27T09:15:58Z</dcterms:modified>
  <cp:category/>
</cp:coreProperties>
</file>